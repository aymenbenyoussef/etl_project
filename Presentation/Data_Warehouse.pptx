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2"/>
  </p:notesMasterIdLst>
  <p:sldIdLst>
    <p:sldId id="256" r:id="rId2"/>
    <p:sldId id="259" r:id="rId3"/>
    <p:sldId id="321" r:id="rId4"/>
    <p:sldId id="258" r:id="rId5"/>
    <p:sldId id="260" r:id="rId6"/>
    <p:sldId id="261" r:id="rId7"/>
    <p:sldId id="297" r:id="rId8"/>
    <p:sldId id="298" r:id="rId9"/>
    <p:sldId id="299" r:id="rId10"/>
    <p:sldId id="300" r:id="rId11"/>
    <p:sldId id="301" r:id="rId12"/>
    <p:sldId id="302" r:id="rId13"/>
    <p:sldId id="305" r:id="rId14"/>
    <p:sldId id="304" r:id="rId15"/>
    <p:sldId id="306" r:id="rId16"/>
    <p:sldId id="322" r:id="rId17"/>
    <p:sldId id="316" r:id="rId18"/>
    <p:sldId id="317" r:id="rId19"/>
    <p:sldId id="318" r:id="rId20"/>
    <p:sldId id="319" r:id="rId21"/>
    <p:sldId id="308" r:id="rId22"/>
    <p:sldId id="307" r:id="rId23"/>
    <p:sldId id="310" r:id="rId24"/>
    <p:sldId id="309" r:id="rId25"/>
    <p:sldId id="311" r:id="rId26"/>
    <p:sldId id="312" r:id="rId27"/>
    <p:sldId id="313" r:id="rId28"/>
    <p:sldId id="314" r:id="rId29"/>
    <p:sldId id="320" r:id="rId30"/>
    <p:sldId id="315" r:id="rId31"/>
  </p:sldIdLst>
  <p:sldSz cx="9144000" cy="5143500" type="screen16x9"/>
  <p:notesSz cx="6858000" cy="9144000"/>
  <p:embeddedFontLst>
    <p:embeddedFont>
      <p:font typeface="Bebas Neue" panose="020B0606020202050201" pitchFamily="34" charset="0"/>
      <p:regular r:id="rId33"/>
    </p:embeddedFont>
    <p:embeddedFont>
      <p:font typeface="Days One" panose="020B0604020202020204" charset="0"/>
      <p:regular r:id="rId34"/>
    </p:embeddedFont>
    <p:embeddedFont>
      <p:font typeface="Lato" panose="020F0502020204030203"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F949BE-0CE3-45CC-82B9-C9622399E921}">
  <a:tblStyle styleId="{34F949BE-0CE3-45CC-82B9-C9622399E92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autoAdjust="0"/>
    <p:restoredTop sz="94660"/>
  </p:normalViewPr>
  <p:slideViewPr>
    <p:cSldViewPr snapToGrid="0">
      <p:cViewPr>
        <p:scale>
          <a:sx n="110" d="100"/>
          <a:sy n="110" d="100"/>
        </p:scale>
        <p:origin x="111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59DE4183-937F-CE54-2A46-4654BAFE1E4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02A217F-1617-DFB1-789F-F4764D2266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41E0348A-D269-AC93-16A1-CC3956A76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3178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1ee2869b1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aa3d063a2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C51CA472-C96F-9098-1DAE-13280E6E68B9}"/>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72446E42-F69E-95A1-7A0A-EA62330DBD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F119DB4A-E635-D52F-5BC6-79C36A07AB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234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B4FDB445-8A59-5912-BE32-53D52FAB18D0}"/>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849D09CE-1C95-E82B-F0DB-32AB6CCA95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E920A4C0-78ED-CDC9-AFD1-B7D2268086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004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E4A334AD-3C20-A2E9-08E7-D04CFDDF2B27}"/>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EB5B206B-DB19-C109-7AC1-84D4B76F7D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8EB5718C-8FB6-3F2C-2F3D-9259E1D289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2822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AB4DB265-43C9-E984-69D1-B1783EB7EF4D}"/>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AE355EDD-1311-AB35-3D1F-24D4383C34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DA1987EE-AB2E-DF98-263E-62FF9AD8B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26806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8985B320-C0A5-4422-0E67-10609E82953D}"/>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DA0A0C93-D8F1-8789-FE46-4A7B996B55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CBC993FA-43A0-590F-A98E-47B64081FC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118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B653118F-CC4F-B38B-461C-14848B3AE9E8}"/>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F4BC2C86-9BC5-2763-C0FE-EFCA225EF3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231E721C-E74C-DA85-63F9-2780AEF6BE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371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5582A966-D560-E436-5F41-C7AF70839929}"/>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74DB5C86-67D0-C0DD-3308-399D9E28DA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7E7C05A7-E260-F1EA-C1CB-2B0476E51A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4915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5BF5C36F-89C7-699D-648A-8C34147E5304}"/>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79F32D96-7646-FDDC-2DE5-93866A179C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F3608CDF-23DF-ED97-0F16-88803BEE08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3387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2DD703A1-620B-6956-CD4E-974C5E3D8D32}"/>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8D670DA6-ABF9-160C-05B1-D2572DB9A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FC4FFB73-71BE-BEBF-CB10-0109466BBB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0977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A2270869-C4B8-A83C-33F6-6A0088E7FC1B}"/>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796B5448-50FA-EE4B-9D91-CB088C30E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17486EA9-DE09-7D21-BEEA-B49C3E9B6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931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B9749AD8-2ADB-BC18-4A41-7284F493AE31}"/>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77E8493F-6594-FF14-53B1-9F1D332D9C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C59385FD-33B0-5A98-CB33-3D122B8A24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9995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CCB5DBD5-6BF3-F281-D8D6-FBAAD7659043}"/>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A81F7CE3-44A3-3B27-73E4-B68919C906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5CC71CA4-C265-761C-6A5E-D233EF14A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869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89B4CE07-795C-6024-E35F-6528FBD5DF12}"/>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FAF0D304-E63A-2844-6068-DC16F5B81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885FBE8D-9CDD-CE9B-BDDF-563E13F9F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9105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014371AC-47AC-34F9-6FC2-8934FC259FA9}"/>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9D1D7A5C-7597-CF39-026C-8B6228FC5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572E346D-08EB-BE60-BC9E-DF1BBD42CF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52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18E2CCB0-F6AF-4FD5-5C8A-7CBFC7E3FDCF}"/>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53FD5F00-0E1E-268D-1C6B-CD45B28DC3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17DF1541-243B-CF1B-25F9-58425502A1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0406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C8E59DAE-FB05-92FD-505F-248A291ED8C1}"/>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B37441F1-928F-1AFB-F8A3-3F5601F5B3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00832F16-D367-A30B-BCE4-9375BE6A01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546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266BE998-1FC8-0D98-7F8B-A7A52BCFFF6D}"/>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6C4D03D4-539C-E39E-575C-67EBA55E08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B17343C5-B5F3-9834-732A-BE40A23955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0123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9B6B202F-E67E-2B40-BBEC-AA1D25DA2568}"/>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3B5F1B87-B050-511D-D1D3-9779D98042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29B9B5CC-0570-394B-702B-B940CFC3A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9561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9CAA199F-5062-9253-D945-E6150EEDF214}"/>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6EFB38E6-1451-11ED-BB6E-F98AC3BB2F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4B7C20A9-AC59-7599-F11A-69452FC12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8651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202282C1-5901-66E3-5936-791FC0ABA96D}"/>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E30A2145-1187-97DB-E5A9-FB8CD248E2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394D70CF-DE3F-4F01-C162-CE94F7DB54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8751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BABE5EE9-6DD1-2FEA-F4E7-99F41000EF65}"/>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82E7C241-BE95-8E00-B1B6-BC7E7F32F0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3E7DED5A-5B32-31E4-7CA1-CB4DD932CF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69573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E3EB5149-3F46-9226-46AF-85FF8E24CFB6}"/>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C57685D3-A246-EDEE-9899-808DED421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02574A7D-2B46-10CB-537E-382BB5CD5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18730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2A44B538-E2C6-57CE-7E5D-9FADE753B56C}"/>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D6735269-7A29-37B9-0F99-3A68331695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0F7E7B5B-83F7-E8DC-229E-57E1E57436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39339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B0FF3AFD-ED72-E6DC-0060-B906149CE8AA}"/>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8694B798-FCFE-8ED1-6CCF-95BC673F2D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0591E3B0-9A59-8042-D8B9-0A233BCB0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906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9950" y="-327450"/>
            <a:ext cx="9543900" cy="5646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 name="Google Shape;11;p2"/>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2" name="Google Shape;12;p2"/>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3" name="Google Shape;13;p2"/>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 name="Google Shape;14;p2"/>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 name="Google Shape;15;p2"/>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6" name="Google Shape;16;p2"/>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7" name="Google Shape;17;p2"/>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 name="Google Shape;18;p2"/>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 name="Google Shape;19;p2"/>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 name="Google Shape;20;p2"/>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1" name="Google Shape;21;p2"/>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 name="Google Shape;22;p2"/>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 name="Google Shape;23;p2"/>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 name="Google Shape;24;p2"/>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5" name="Google Shape;25;p2"/>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6" name="Google Shape;26;p2"/>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7" name="Google Shape;27;p2"/>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 name="Google Shape;28;p2"/>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 name="Google Shape;29;p2"/>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0" name="Google Shape;30;p2"/>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1" name="Google Shape;31;p2"/>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2" name="Google Shape;32;p2"/>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 name="Google Shape;33;p2"/>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4" name="Google Shape;34;p2"/>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5" name="Google Shape;35;p2"/>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6" name="Google Shape;36;p2"/>
          <p:cNvGrpSpPr/>
          <p:nvPr/>
        </p:nvGrpSpPr>
        <p:grpSpPr>
          <a:xfrm>
            <a:off x="473650" y="274900"/>
            <a:ext cx="8349800" cy="4746124"/>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9" name="Google Shape;49;p2"/>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Clr>
                <a:srgbClr val="191919"/>
              </a:buClr>
              <a:buSzPts val="5200"/>
              <a:buNone/>
              <a:defRPr sz="5300">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0" name="Google Shape;50;p2"/>
          <p:cNvSpPr txBox="1">
            <a:spLocks noGrp="1"/>
          </p:cNvSpPr>
          <p:nvPr>
            <p:ph type="subTitle" idx="1"/>
          </p:nvPr>
        </p:nvSpPr>
        <p:spPr>
          <a:xfrm>
            <a:off x="2301625" y="3686200"/>
            <a:ext cx="4540800" cy="4605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grpSp>
        <p:nvGrpSpPr>
          <p:cNvPr id="52" name="Google Shape;52;p3"/>
          <p:cNvGrpSpPr/>
          <p:nvPr/>
        </p:nvGrpSpPr>
        <p:grpSpPr>
          <a:xfrm>
            <a:off x="-199950" y="-327450"/>
            <a:ext cx="9543900" cy="5646000"/>
            <a:chOff x="-199950" y="-251250"/>
            <a:chExt cx="9543900" cy="5646000"/>
          </a:xfrm>
        </p:grpSpPr>
        <p:cxnSp>
          <p:nvCxnSpPr>
            <p:cNvPr id="53" name="Google Shape;53;p3"/>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 name="Google Shape;54;p3"/>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 name="Google Shape;55;p3"/>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6" name="Google Shape;56;p3"/>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7" name="Google Shape;57;p3"/>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8" name="Google Shape;58;p3"/>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 name="Google Shape;59;p3"/>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 name="Google Shape;60;p3"/>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1" name="Google Shape;61;p3"/>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2" name="Google Shape;62;p3"/>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3" name="Google Shape;63;p3"/>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4" name="Google Shape;64;p3"/>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5" name="Google Shape;65;p3"/>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6" name="Google Shape;66;p3"/>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7" name="Google Shape;67;p3"/>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 name="Google Shape;68;p3"/>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9" name="Google Shape;69;p3"/>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 name="Google Shape;70;p3"/>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 name="Google Shape;71;p3"/>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2" name="Google Shape;72;p3"/>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3" name="Google Shape;73;p3"/>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 name="Google Shape;74;p3"/>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 name="Google Shape;75;p3"/>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6" name="Google Shape;76;p3"/>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7" name="Google Shape;77;p3"/>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8" name="Google Shape;78;p3"/>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9" name="Google Shape;79;p3"/>
          <p:cNvGrpSpPr/>
          <p:nvPr/>
        </p:nvGrpSpPr>
        <p:grpSpPr>
          <a:xfrm>
            <a:off x="473650" y="274900"/>
            <a:ext cx="8349800" cy="4746124"/>
            <a:chOff x="473650" y="274900"/>
            <a:chExt cx="8349800" cy="4746124"/>
          </a:xfrm>
        </p:grpSpPr>
        <p:grpSp>
          <p:nvGrpSpPr>
            <p:cNvPr id="80" name="Google Shape;80;p3"/>
            <p:cNvGrpSpPr/>
            <p:nvPr/>
          </p:nvGrpSpPr>
          <p:grpSpPr>
            <a:xfrm>
              <a:off x="626050" y="427300"/>
              <a:ext cx="8197400" cy="4593724"/>
              <a:chOff x="-280802" y="20880"/>
              <a:chExt cx="10622522" cy="5952733"/>
            </a:xfrm>
          </p:grpSpPr>
          <p:sp>
            <p:nvSpPr>
              <p:cNvPr id="81" name="Google Shape;81;p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 name="Google Shape;82;p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3" name="Google Shape;83;p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 name="Google Shape;84;p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 name="Google Shape;85;p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6" name="Google Shape;86;p3"/>
            <p:cNvGrpSpPr/>
            <p:nvPr/>
          </p:nvGrpSpPr>
          <p:grpSpPr>
            <a:xfrm>
              <a:off x="473650" y="274900"/>
              <a:ext cx="8197400" cy="4593724"/>
              <a:chOff x="-280802" y="20880"/>
              <a:chExt cx="10622522" cy="5952733"/>
            </a:xfrm>
          </p:grpSpPr>
          <p:sp>
            <p:nvSpPr>
              <p:cNvPr id="87" name="Google Shape;87;p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 name="Google Shape;88;p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 name="Google Shape;89;p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 name="Google Shape;90;p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 name="Google Shape;91;p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92" name="Google Shape;92;p3"/>
          <p:cNvSpPr txBox="1">
            <a:spLocks noGrp="1"/>
          </p:cNvSpPr>
          <p:nvPr>
            <p:ph type="title"/>
          </p:nvPr>
        </p:nvSpPr>
        <p:spPr>
          <a:xfrm>
            <a:off x="1320400" y="2101475"/>
            <a:ext cx="3946800" cy="14883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3" name="Google Shape;93;p3"/>
          <p:cNvSpPr txBox="1">
            <a:spLocks noGrp="1"/>
          </p:cNvSpPr>
          <p:nvPr>
            <p:ph type="title" idx="2" hasCustomPrompt="1"/>
          </p:nvPr>
        </p:nvSpPr>
        <p:spPr>
          <a:xfrm>
            <a:off x="5820275" y="1154975"/>
            <a:ext cx="1905300" cy="10902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4" name="Google Shape;94;p3"/>
          <p:cNvSpPr txBox="1">
            <a:spLocks noGrp="1"/>
          </p:cNvSpPr>
          <p:nvPr>
            <p:ph type="subTitle" idx="1"/>
          </p:nvPr>
        </p:nvSpPr>
        <p:spPr>
          <a:xfrm>
            <a:off x="1320400" y="3589700"/>
            <a:ext cx="3946800" cy="47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grpSp>
        <p:nvGrpSpPr>
          <p:cNvPr id="96" name="Google Shape;96;p4"/>
          <p:cNvGrpSpPr/>
          <p:nvPr/>
        </p:nvGrpSpPr>
        <p:grpSpPr>
          <a:xfrm>
            <a:off x="-199950" y="-327450"/>
            <a:ext cx="9543900" cy="5646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8" name="Google Shape;98;p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9" name="Google Shape;99;p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0" name="Google Shape;100;p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1" name="Google Shape;101;p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2" name="Google Shape;102;p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3" name="Google Shape;103;p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4" name="Google Shape;104;p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5" name="Google Shape;105;p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6" name="Google Shape;106;p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7" name="Google Shape;107;p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8" name="Google Shape;108;p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9" name="Google Shape;109;p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0" name="Google Shape;110;p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1" name="Google Shape;111;p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2" name="Google Shape;112;p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3" name="Google Shape;113;p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4" name="Google Shape;114;p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5" name="Google Shape;115;p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6" name="Google Shape;116;p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7" name="Google Shape;117;p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8" name="Google Shape;118;p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9" name="Google Shape;119;p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0" name="Google Shape;120;p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1" name="Google Shape;121;p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2" name="Google Shape;122;p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23" name="Google Shape;123;p4"/>
          <p:cNvGrpSpPr/>
          <p:nvPr/>
        </p:nvGrpSpPr>
        <p:grpSpPr>
          <a:xfrm>
            <a:off x="473650" y="274900"/>
            <a:ext cx="8349800" cy="4746124"/>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36" name="Google Shape;136;p4"/>
          <p:cNvSpPr txBox="1">
            <a:spLocks noGrp="1"/>
          </p:cNvSpPr>
          <p:nvPr>
            <p:ph type="body" idx="1"/>
          </p:nvPr>
        </p:nvSpPr>
        <p:spPr>
          <a:xfrm>
            <a:off x="720000" y="1514050"/>
            <a:ext cx="7704000" cy="30549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137" name="Google Shape;137;p4"/>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6"/>
        <p:cNvGrpSpPr/>
        <p:nvPr/>
      </p:nvGrpSpPr>
      <p:grpSpPr>
        <a:xfrm>
          <a:off x="0" y="0"/>
          <a:ext cx="0" cy="0"/>
          <a:chOff x="0" y="0"/>
          <a:chExt cx="0" cy="0"/>
        </a:xfrm>
      </p:grpSpPr>
      <p:grpSp>
        <p:nvGrpSpPr>
          <p:cNvPr id="227" name="Google Shape;227;p7"/>
          <p:cNvGrpSpPr/>
          <p:nvPr/>
        </p:nvGrpSpPr>
        <p:grpSpPr>
          <a:xfrm>
            <a:off x="-199950" y="-327450"/>
            <a:ext cx="9543900" cy="5646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9" name="Google Shape;229;p7"/>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0" name="Google Shape;230;p7"/>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1" name="Google Shape;231;p7"/>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2" name="Google Shape;232;p7"/>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3" name="Google Shape;233;p7"/>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4" name="Google Shape;234;p7"/>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5" name="Google Shape;235;p7"/>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6" name="Google Shape;236;p7"/>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7" name="Google Shape;237;p7"/>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8" name="Google Shape;238;p7"/>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9" name="Google Shape;239;p7"/>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0" name="Google Shape;240;p7"/>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1" name="Google Shape;241;p7"/>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2" name="Google Shape;242;p7"/>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3" name="Google Shape;243;p7"/>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4" name="Google Shape;244;p7"/>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5" name="Google Shape;245;p7"/>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6" name="Google Shape;246;p7"/>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7" name="Google Shape;247;p7"/>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8" name="Google Shape;248;p7"/>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9" name="Google Shape;249;p7"/>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0" name="Google Shape;250;p7"/>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1" name="Google Shape;251;p7"/>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2" name="Google Shape;252;p7"/>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3" name="Google Shape;253;p7"/>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54" name="Google Shape;254;p7"/>
          <p:cNvGrpSpPr/>
          <p:nvPr/>
        </p:nvGrpSpPr>
        <p:grpSpPr>
          <a:xfrm>
            <a:off x="473650" y="274900"/>
            <a:ext cx="8349800" cy="4746124"/>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67" name="Google Shape;267;p7"/>
          <p:cNvSpPr txBox="1">
            <a:spLocks noGrp="1"/>
          </p:cNvSpPr>
          <p:nvPr>
            <p:ph type="body" idx="1"/>
          </p:nvPr>
        </p:nvSpPr>
        <p:spPr>
          <a:xfrm>
            <a:off x="4381025" y="1970075"/>
            <a:ext cx="3867000" cy="2490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68" name="Google Shape;268;p7"/>
          <p:cNvSpPr>
            <a:spLocks noGrp="1"/>
          </p:cNvSpPr>
          <p:nvPr>
            <p:ph type="pic" idx="2"/>
          </p:nvPr>
        </p:nvSpPr>
        <p:spPr>
          <a:xfrm>
            <a:off x="896750" y="1970075"/>
            <a:ext cx="3217500" cy="2490900"/>
          </a:xfrm>
          <a:prstGeom prst="rect">
            <a:avLst/>
          </a:prstGeom>
          <a:noFill/>
          <a:ln w="19050" cap="flat" cmpd="sng">
            <a:solidFill>
              <a:schemeClr val="dk1"/>
            </a:solidFill>
            <a:prstDash val="solid"/>
            <a:round/>
            <a:headEnd type="none" w="sm" len="sm"/>
            <a:tailEnd type="none" w="sm" len="sm"/>
          </a:ln>
        </p:spPr>
      </p:sp>
      <p:sp>
        <p:nvSpPr>
          <p:cNvPr id="269" name="Google Shape;269;p7"/>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2"/>
        <p:cNvGrpSpPr/>
        <p:nvPr/>
      </p:nvGrpSpPr>
      <p:grpSpPr>
        <a:xfrm>
          <a:off x="0" y="0"/>
          <a:ext cx="0" cy="0"/>
          <a:chOff x="0" y="0"/>
          <a:chExt cx="0" cy="0"/>
        </a:xfrm>
      </p:grpSpPr>
      <p:grpSp>
        <p:nvGrpSpPr>
          <p:cNvPr id="313" name="Google Shape;313;p9"/>
          <p:cNvGrpSpPr/>
          <p:nvPr/>
        </p:nvGrpSpPr>
        <p:grpSpPr>
          <a:xfrm>
            <a:off x="-199950" y="-327450"/>
            <a:ext cx="9543900" cy="5646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5" name="Google Shape;315;p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6" name="Google Shape;316;p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7" name="Google Shape;317;p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8" name="Google Shape;318;p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9" name="Google Shape;319;p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0" name="Google Shape;320;p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1" name="Google Shape;321;p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2" name="Google Shape;322;p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3" name="Google Shape;323;p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4" name="Google Shape;324;p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5" name="Google Shape;325;p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6" name="Google Shape;326;p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7" name="Google Shape;327;p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8" name="Google Shape;328;p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9" name="Google Shape;329;p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0" name="Google Shape;330;p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1" name="Google Shape;331;p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2" name="Google Shape;332;p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3" name="Google Shape;333;p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4" name="Google Shape;334;p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5" name="Google Shape;335;p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6" name="Google Shape;336;p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7" name="Google Shape;337;p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8" name="Google Shape;338;p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9" name="Google Shape;339;p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40" name="Google Shape;340;p9"/>
          <p:cNvGrpSpPr/>
          <p:nvPr/>
        </p:nvGrpSpPr>
        <p:grpSpPr>
          <a:xfrm>
            <a:off x="473650" y="274900"/>
            <a:ext cx="8349800" cy="4746124"/>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53" name="Google Shape;353;p9"/>
          <p:cNvSpPr txBox="1">
            <a:spLocks noGrp="1"/>
          </p:cNvSpPr>
          <p:nvPr>
            <p:ph type="subTitle" idx="1"/>
          </p:nvPr>
        </p:nvSpPr>
        <p:spPr>
          <a:xfrm>
            <a:off x="896400"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4" name="Google Shape;354;p9"/>
          <p:cNvSpPr txBox="1">
            <a:spLocks noGrp="1"/>
          </p:cNvSpPr>
          <p:nvPr>
            <p:ph type="subTitle" idx="2"/>
          </p:nvPr>
        </p:nvSpPr>
        <p:spPr>
          <a:xfrm>
            <a:off x="4696925"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5" name="Google Shape;355;p9"/>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539"/>
        <p:cNvGrpSpPr/>
        <p:nvPr/>
      </p:nvGrpSpPr>
      <p:grpSpPr>
        <a:xfrm>
          <a:off x="0" y="0"/>
          <a:ext cx="0" cy="0"/>
          <a:chOff x="0" y="0"/>
          <a:chExt cx="0" cy="0"/>
        </a:xfrm>
      </p:grpSpPr>
      <p:grpSp>
        <p:nvGrpSpPr>
          <p:cNvPr id="540" name="Google Shape;540;p16"/>
          <p:cNvGrpSpPr/>
          <p:nvPr/>
        </p:nvGrpSpPr>
        <p:grpSpPr>
          <a:xfrm>
            <a:off x="-199950" y="-327450"/>
            <a:ext cx="9543900" cy="5646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2" name="Google Shape;542;p1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3" name="Google Shape;543;p1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4" name="Google Shape;544;p1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5" name="Google Shape;545;p1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6" name="Google Shape;546;p1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7" name="Google Shape;547;p1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8" name="Google Shape;548;p1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9" name="Google Shape;549;p1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0" name="Google Shape;550;p1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1" name="Google Shape;551;p1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2" name="Google Shape;552;p1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3" name="Google Shape;553;p1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4" name="Google Shape;554;p1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5" name="Google Shape;555;p1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6" name="Google Shape;556;p1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7" name="Google Shape;557;p1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8" name="Google Shape;558;p1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9" name="Google Shape;559;p1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0" name="Google Shape;560;p1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1" name="Google Shape;561;p1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2" name="Google Shape;562;p1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3" name="Google Shape;563;p1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4" name="Google Shape;564;p1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5" name="Google Shape;565;p1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6" name="Google Shape;566;p1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67" name="Google Shape;567;p16"/>
          <p:cNvGrpSpPr/>
          <p:nvPr/>
        </p:nvGrpSpPr>
        <p:grpSpPr>
          <a:xfrm>
            <a:off x="473650" y="274900"/>
            <a:ext cx="8349800" cy="4746124"/>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580" name="Google Shape;580;p16"/>
          <p:cNvSpPr txBox="1">
            <a:spLocks noGrp="1"/>
          </p:cNvSpPr>
          <p:nvPr>
            <p:ph type="subTitle" idx="1"/>
          </p:nvPr>
        </p:nvSpPr>
        <p:spPr>
          <a:xfrm>
            <a:off x="1908800"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1" name="Google Shape;581;p16"/>
          <p:cNvSpPr txBox="1">
            <a:spLocks noGrp="1"/>
          </p:cNvSpPr>
          <p:nvPr>
            <p:ph type="subTitle" idx="2"/>
          </p:nvPr>
        </p:nvSpPr>
        <p:spPr>
          <a:xfrm>
            <a:off x="5687849"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2" name="Google Shape;582;p16"/>
          <p:cNvSpPr txBox="1">
            <a:spLocks noGrp="1"/>
          </p:cNvSpPr>
          <p:nvPr>
            <p:ph type="subTitle" idx="3"/>
          </p:nvPr>
        </p:nvSpPr>
        <p:spPr>
          <a:xfrm>
            <a:off x="1908800"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3" name="Google Shape;583;p16"/>
          <p:cNvSpPr txBox="1">
            <a:spLocks noGrp="1"/>
          </p:cNvSpPr>
          <p:nvPr>
            <p:ph type="subTitle" idx="4"/>
          </p:nvPr>
        </p:nvSpPr>
        <p:spPr>
          <a:xfrm>
            <a:off x="5687849"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4" name="Google Shape;584;p16"/>
          <p:cNvSpPr txBox="1">
            <a:spLocks noGrp="1"/>
          </p:cNvSpPr>
          <p:nvPr>
            <p:ph type="title" hasCustomPrompt="1"/>
          </p:nvPr>
        </p:nvSpPr>
        <p:spPr>
          <a:xfrm>
            <a:off x="1074761" y="1987721"/>
            <a:ext cx="7335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5" name="Google Shape;585;p16"/>
          <p:cNvSpPr txBox="1">
            <a:spLocks noGrp="1"/>
          </p:cNvSpPr>
          <p:nvPr>
            <p:ph type="title" idx="5" hasCustomPrompt="1"/>
          </p:nvPr>
        </p:nvSpPr>
        <p:spPr>
          <a:xfrm>
            <a:off x="1074761" y="3351821"/>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6"/>
          <p:cNvSpPr txBox="1">
            <a:spLocks noGrp="1"/>
          </p:cNvSpPr>
          <p:nvPr>
            <p:ph type="title" idx="6" hasCustomPrompt="1"/>
          </p:nvPr>
        </p:nvSpPr>
        <p:spPr>
          <a:xfrm>
            <a:off x="4853776" y="1988358"/>
            <a:ext cx="731400" cy="446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6"/>
          <p:cNvSpPr txBox="1">
            <a:spLocks noGrp="1"/>
          </p:cNvSpPr>
          <p:nvPr>
            <p:ph type="title" idx="7" hasCustomPrompt="1"/>
          </p:nvPr>
        </p:nvSpPr>
        <p:spPr>
          <a:xfrm>
            <a:off x="4853776" y="3351822"/>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8" name="Google Shape;588;p16"/>
          <p:cNvSpPr txBox="1">
            <a:spLocks noGrp="1"/>
          </p:cNvSpPr>
          <p:nvPr>
            <p:ph type="subTitle" idx="8"/>
          </p:nvPr>
        </p:nvSpPr>
        <p:spPr>
          <a:xfrm>
            <a:off x="1908800"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89" name="Google Shape;589;p16"/>
          <p:cNvSpPr txBox="1">
            <a:spLocks noGrp="1"/>
          </p:cNvSpPr>
          <p:nvPr>
            <p:ph type="subTitle" idx="9"/>
          </p:nvPr>
        </p:nvSpPr>
        <p:spPr>
          <a:xfrm>
            <a:off x="1908800" y="322233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0" name="Google Shape;590;p16"/>
          <p:cNvSpPr txBox="1">
            <a:spLocks noGrp="1"/>
          </p:cNvSpPr>
          <p:nvPr>
            <p:ph type="subTitle" idx="13"/>
          </p:nvPr>
        </p:nvSpPr>
        <p:spPr>
          <a:xfrm>
            <a:off x="5687849"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1" name="Google Shape;591;p16"/>
          <p:cNvSpPr txBox="1">
            <a:spLocks noGrp="1"/>
          </p:cNvSpPr>
          <p:nvPr>
            <p:ph type="subTitle" idx="14"/>
          </p:nvPr>
        </p:nvSpPr>
        <p:spPr>
          <a:xfrm>
            <a:off x="5687849" y="3222336"/>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2" name="Google Shape;592;p16"/>
          <p:cNvSpPr txBox="1">
            <a:spLocks noGrp="1"/>
          </p:cNvSpPr>
          <p:nvPr>
            <p:ph type="title" idx="15"/>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84"/>
        <p:cNvGrpSpPr/>
        <p:nvPr/>
      </p:nvGrpSpPr>
      <p:grpSpPr>
        <a:xfrm>
          <a:off x="0" y="0"/>
          <a:ext cx="0" cy="0"/>
          <a:chOff x="0" y="0"/>
          <a:chExt cx="0" cy="0"/>
        </a:xfrm>
      </p:grpSpPr>
      <p:grpSp>
        <p:nvGrpSpPr>
          <p:cNvPr id="685" name="Google Shape;685;p19"/>
          <p:cNvGrpSpPr/>
          <p:nvPr/>
        </p:nvGrpSpPr>
        <p:grpSpPr>
          <a:xfrm>
            <a:off x="-199950" y="-327450"/>
            <a:ext cx="9543900" cy="5646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7" name="Google Shape;687;p1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8" name="Google Shape;688;p1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9" name="Google Shape;689;p1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0" name="Google Shape;690;p1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1" name="Google Shape;691;p1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2" name="Google Shape;692;p1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3" name="Google Shape;693;p1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4" name="Google Shape;694;p1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5" name="Google Shape;695;p1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6" name="Google Shape;696;p1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7" name="Google Shape;697;p1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8" name="Google Shape;698;p1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9" name="Google Shape;699;p1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0" name="Google Shape;700;p1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1" name="Google Shape;701;p1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2" name="Google Shape;702;p1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3" name="Google Shape;703;p1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4" name="Google Shape;704;p1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5" name="Google Shape;705;p1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6" name="Google Shape;706;p1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7" name="Google Shape;707;p1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8" name="Google Shape;708;p1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9" name="Google Shape;709;p1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0" name="Google Shape;710;p1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1" name="Google Shape;711;p1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12" name="Google Shape;712;p19"/>
          <p:cNvGrpSpPr/>
          <p:nvPr/>
        </p:nvGrpSpPr>
        <p:grpSpPr>
          <a:xfrm>
            <a:off x="473650" y="274900"/>
            <a:ext cx="8349800" cy="4746124"/>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725" name="Google Shape;725;p19"/>
          <p:cNvGrpSpPr/>
          <p:nvPr/>
        </p:nvGrpSpPr>
        <p:grpSpPr>
          <a:xfrm>
            <a:off x="7359430" y="819685"/>
            <a:ext cx="1132714" cy="1645290"/>
            <a:chOff x="7359430" y="819685"/>
            <a:chExt cx="1132714" cy="1645290"/>
          </a:xfrm>
        </p:grpSpPr>
        <p:sp>
          <p:nvSpPr>
            <p:cNvPr id="726" name="Google Shape;726;p19"/>
            <p:cNvSpPr/>
            <p:nvPr/>
          </p:nvSpPr>
          <p:spPr>
            <a:xfrm rot="3600003">
              <a:off x="7508612" y="974409"/>
              <a:ext cx="834351" cy="826229"/>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28"/>
        <p:cNvGrpSpPr/>
        <p:nvPr/>
      </p:nvGrpSpPr>
      <p:grpSpPr>
        <a:xfrm>
          <a:off x="0" y="0"/>
          <a:ext cx="0" cy="0"/>
          <a:chOff x="0" y="0"/>
          <a:chExt cx="0" cy="0"/>
        </a:xfrm>
      </p:grpSpPr>
      <p:grpSp>
        <p:nvGrpSpPr>
          <p:cNvPr id="729" name="Google Shape;729;p20"/>
          <p:cNvGrpSpPr/>
          <p:nvPr/>
        </p:nvGrpSpPr>
        <p:grpSpPr>
          <a:xfrm>
            <a:off x="-199950" y="-327450"/>
            <a:ext cx="9543900" cy="5646000"/>
            <a:chOff x="-199950" y="-251250"/>
            <a:chExt cx="9543900" cy="5646000"/>
          </a:xfrm>
        </p:grpSpPr>
        <p:cxnSp>
          <p:nvCxnSpPr>
            <p:cNvPr id="730" name="Google Shape;730;p20"/>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1" name="Google Shape;731;p20"/>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2" name="Google Shape;732;p20"/>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3" name="Google Shape;733;p20"/>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4" name="Google Shape;734;p20"/>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5" name="Google Shape;735;p20"/>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6" name="Google Shape;736;p20"/>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7" name="Google Shape;737;p20"/>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8" name="Google Shape;738;p20"/>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9" name="Google Shape;739;p20"/>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0" name="Google Shape;740;p20"/>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1" name="Google Shape;741;p20"/>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2" name="Google Shape;742;p20"/>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3" name="Google Shape;743;p20"/>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4" name="Google Shape;744;p20"/>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5" name="Google Shape;745;p20"/>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6" name="Google Shape;746;p20"/>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7" name="Google Shape;747;p20"/>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8" name="Google Shape;748;p20"/>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9" name="Google Shape;749;p20"/>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0" name="Google Shape;750;p20"/>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1" name="Google Shape;751;p20"/>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2" name="Google Shape;752;p20"/>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3" name="Google Shape;753;p20"/>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4" name="Google Shape;754;p20"/>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5" name="Google Shape;755;p20"/>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56" name="Google Shape;756;p20"/>
          <p:cNvGrpSpPr/>
          <p:nvPr/>
        </p:nvGrpSpPr>
        <p:grpSpPr>
          <a:xfrm>
            <a:off x="626050" y="427300"/>
            <a:ext cx="8197400" cy="4593724"/>
            <a:chOff x="-280802" y="20880"/>
            <a:chExt cx="10622522" cy="5952733"/>
          </a:xfrm>
        </p:grpSpPr>
        <p:sp>
          <p:nvSpPr>
            <p:cNvPr id="757" name="Google Shape;757;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8" name="Google Shape;758;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9" name="Google Shape;759;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0" name="Google Shape;760;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1" name="Google Shape;761;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62" name="Google Shape;762;p20"/>
          <p:cNvGrpSpPr/>
          <p:nvPr/>
        </p:nvGrpSpPr>
        <p:grpSpPr>
          <a:xfrm>
            <a:off x="473650" y="274900"/>
            <a:ext cx="8197400" cy="4593724"/>
            <a:chOff x="-280802" y="20880"/>
            <a:chExt cx="10622522" cy="5952733"/>
          </a:xfrm>
        </p:grpSpPr>
        <p:sp>
          <p:nvSpPr>
            <p:cNvPr id="763" name="Google Shape;763;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4" name="Google Shape;764;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5" name="Google Shape;765;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6" name="Google Shape;766;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7" name="Google Shape;767;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68" name="Google Shape;768;p20"/>
          <p:cNvGrpSpPr/>
          <p:nvPr/>
        </p:nvGrpSpPr>
        <p:grpSpPr>
          <a:xfrm>
            <a:off x="7527566" y="3702226"/>
            <a:ext cx="1212401" cy="1240945"/>
            <a:chOff x="8264880" y="1119240"/>
            <a:chExt cx="1865520" cy="1909440"/>
          </a:xfrm>
        </p:grpSpPr>
        <p:sp>
          <p:nvSpPr>
            <p:cNvPr id="769" name="Google Shape;769;p20"/>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0" name="Google Shape;770;p20"/>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1" name="Google Shape;771;p20"/>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2" name="Google Shape;772;p20"/>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73" name="Google Shape;773;p20"/>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4" name="Google Shape;774;p20"/>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62" r:id="rId7"/>
    <p:sldLayoutId id="2147483665" r:id="rId8"/>
    <p:sldLayoutId id="214748366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24"/>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Warehouse</a:t>
            </a:r>
            <a:endParaRPr dirty="0"/>
          </a:p>
        </p:txBody>
      </p:sp>
      <p:sp>
        <p:nvSpPr>
          <p:cNvPr id="786" name="Google Shape;786;p24"/>
          <p:cNvSpPr txBox="1">
            <a:spLocks noGrp="1"/>
          </p:cNvSpPr>
          <p:nvPr>
            <p:ph type="subTitle" idx="1"/>
          </p:nvPr>
        </p:nvSpPr>
        <p:spPr>
          <a:xfrm>
            <a:off x="2301625" y="3686200"/>
            <a:ext cx="4540800" cy="46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Aymen Ben Youssef , Med Ali Kechrida</a:t>
            </a:r>
            <a:endParaRPr dirty="0"/>
          </a:p>
        </p:txBody>
      </p:sp>
      <p:grpSp>
        <p:nvGrpSpPr>
          <p:cNvPr id="787" name="Google Shape;787;p24"/>
          <p:cNvGrpSpPr/>
          <p:nvPr/>
        </p:nvGrpSpPr>
        <p:grpSpPr>
          <a:xfrm>
            <a:off x="139544" y="-233231"/>
            <a:ext cx="8897898" cy="5075960"/>
            <a:chOff x="139544" y="-233231"/>
            <a:chExt cx="8897898" cy="5075960"/>
          </a:xfrm>
        </p:grpSpPr>
        <p:grpSp>
          <p:nvGrpSpPr>
            <p:cNvPr id="788" name="Google Shape;788;p24"/>
            <p:cNvGrpSpPr/>
            <p:nvPr/>
          </p:nvGrpSpPr>
          <p:grpSpPr>
            <a:xfrm>
              <a:off x="7825041" y="2013301"/>
              <a:ext cx="1212401" cy="1240945"/>
              <a:chOff x="8264880" y="1119240"/>
              <a:chExt cx="1865520" cy="1909440"/>
            </a:xfrm>
          </p:grpSpPr>
          <p:sp>
            <p:nvSpPr>
              <p:cNvPr id="789" name="Google Shape;789;p24"/>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0" name="Google Shape;790;p24"/>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1" name="Google Shape;791;p24"/>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2" name="Google Shape;792;p24"/>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3" name="Google Shape;793;p24"/>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4" name="Google Shape;794;p24"/>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95" name="Google Shape;795;p24"/>
            <p:cNvGrpSpPr/>
            <p:nvPr/>
          </p:nvGrpSpPr>
          <p:grpSpPr>
            <a:xfrm rot="-899905">
              <a:off x="299513" y="3421758"/>
              <a:ext cx="795061" cy="1340934"/>
              <a:chOff x="6814440" y="1026720"/>
              <a:chExt cx="1223280" cy="2063160"/>
            </a:xfrm>
          </p:grpSpPr>
          <p:sp>
            <p:nvSpPr>
              <p:cNvPr id="796" name="Google Shape;796;p24"/>
              <p:cNvSpPr/>
              <p:nvPr/>
            </p:nvSpPr>
            <p:spPr>
              <a:xfrm>
                <a:off x="6814440" y="1026720"/>
                <a:ext cx="1223280" cy="1574640"/>
              </a:xfrm>
              <a:custGeom>
                <a:avLst/>
                <a:gdLst/>
                <a:ahLst/>
                <a:cxnLst/>
                <a:rect l="l" t="t" r="r" b="b"/>
                <a:pathLst>
                  <a:path w="3398" h="4374" extrusionOk="0">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7" name="Google Shape;797;p24"/>
              <p:cNvSpPr/>
              <p:nvPr/>
            </p:nvSpPr>
            <p:spPr>
              <a:xfrm>
                <a:off x="7145280" y="2540880"/>
                <a:ext cx="576720" cy="412560"/>
              </a:xfrm>
              <a:custGeom>
                <a:avLst/>
                <a:gdLst/>
                <a:ahLst/>
                <a:cxnLst/>
                <a:rect l="l" t="t" r="r" b="b"/>
                <a:pathLst>
                  <a:path w="1602" h="1146" extrusionOk="0">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8" name="Google Shape;798;p24"/>
              <p:cNvSpPr/>
              <p:nvPr/>
            </p:nvSpPr>
            <p:spPr>
              <a:xfrm>
                <a:off x="7115040" y="1859400"/>
                <a:ext cx="583200" cy="661320"/>
              </a:xfrm>
              <a:custGeom>
                <a:avLst/>
                <a:gdLst/>
                <a:ahLst/>
                <a:cxnLst/>
                <a:rect l="l" t="t" r="r" b="b"/>
                <a:pathLst>
                  <a:path w="1620" h="1837" extrusionOk="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9" name="Google Shape;799;p24"/>
              <p:cNvSpPr/>
              <p:nvPr/>
            </p:nvSpPr>
            <p:spPr>
              <a:xfrm>
                <a:off x="7079040" y="2500560"/>
                <a:ext cx="709560" cy="73800"/>
              </a:xfrm>
              <a:custGeom>
                <a:avLst/>
                <a:gdLst/>
                <a:ahLst/>
                <a:cxnLst/>
                <a:rect l="l" t="t" r="r" b="b"/>
                <a:pathLst>
                  <a:path w="1971" h="205" extrusionOk="0">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0" name="Google Shape;800;p24"/>
              <p:cNvSpPr/>
              <p:nvPr/>
            </p:nvSpPr>
            <p:spPr>
              <a:xfrm>
                <a:off x="7079040" y="2613600"/>
                <a:ext cx="709560" cy="73440"/>
              </a:xfrm>
              <a:custGeom>
                <a:avLst/>
                <a:gdLst/>
                <a:ahLst/>
                <a:cxnLst/>
                <a:rect l="l" t="t" r="r" b="b"/>
                <a:pathLst>
                  <a:path w="1971" h="204" extrusionOk="0">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1" name="Google Shape;801;p24"/>
              <p:cNvSpPr/>
              <p:nvPr/>
            </p:nvSpPr>
            <p:spPr>
              <a:xfrm>
                <a:off x="7079040" y="2726640"/>
                <a:ext cx="709560" cy="73440"/>
              </a:xfrm>
              <a:custGeom>
                <a:avLst/>
                <a:gdLst/>
                <a:ahLst/>
                <a:cxnLst/>
                <a:rect l="l" t="t" r="r" b="b"/>
                <a:pathLst>
                  <a:path w="1971" h="204" extrusionOk="0">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2" name="Google Shape;802;p24"/>
              <p:cNvSpPr/>
              <p:nvPr/>
            </p:nvSpPr>
            <p:spPr>
              <a:xfrm>
                <a:off x="7299000" y="2953440"/>
                <a:ext cx="269280" cy="136440"/>
              </a:xfrm>
              <a:custGeom>
                <a:avLst/>
                <a:gdLst/>
                <a:ahLst/>
                <a:cxnLst/>
                <a:rect l="l" t="t" r="r" b="b"/>
                <a:pathLst>
                  <a:path w="748" h="379" extrusionOk="0">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03" name="Google Shape;803;p24"/>
            <p:cNvGrpSpPr/>
            <p:nvPr/>
          </p:nvGrpSpPr>
          <p:grpSpPr>
            <a:xfrm>
              <a:off x="3704573" y="-233231"/>
              <a:ext cx="1408745" cy="850581"/>
              <a:chOff x="3704573" y="-233231"/>
              <a:chExt cx="1408745" cy="850581"/>
            </a:xfrm>
          </p:grpSpPr>
          <p:sp>
            <p:nvSpPr>
              <p:cNvPr id="804" name="Google Shape;804;p24"/>
              <p:cNvSpPr/>
              <p:nvPr/>
            </p:nvSpPr>
            <p:spPr>
              <a:xfrm>
                <a:off x="3704573" y="-233231"/>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5" name="Google Shape;805;p24"/>
              <p:cNvSpPr/>
              <p:nvPr/>
            </p:nvSpPr>
            <p:spPr>
              <a:xfrm>
                <a:off x="4648285" y="1568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806" name="Google Shape;806;p24"/>
          <p:cNvSpPr txBox="1"/>
          <p:nvPr/>
        </p:nvSpPr>
        <p:spPr>
          <a:xfrm>
            <a:off x="6477000" y="915775"/>
            <a:ext cx="1770600" cy="460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Days One"/>
                <a:ea typeface="Days One"/>
                <a:cs typeface="Days One"/>
                <a:sym typeface="Days One"/>
              </a:rPr>
              <a:t>I1 FSS</a:t>
            </a:r>
            <a:endParaRPr sz="2000" dirty="0">
              <a:solidFill>
                <a:schemeClr val="dk1"/>
              </a:solidFill>
              <a:latin typeface="Days One"/>
              <a:ea typeface="Days One"/>
              <a:cs typeface="Days One"/>
              <a:sym typeface="Days On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27"/>
          <p:cNvSpPr txBox="1">
            <a:spLocks noGrp="1"/>
          </p:cNvSpPr>
          <p:nvPr>
            <p:ph type="subTitle" idx="1"/>
          </p:nvPr>
        </p:nvSpPr>
        <p:spPr>
          <a:xfrm>
            <a:off x="896400" y="1812275"/>
            <a:ext cx="3550800" cy="263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This project focuses on building a comprehensive data warehouse and an OLAP cube to analyze a dataset about used cars. Using the ETL methodology, the data was processed and transformed with Talend (as well as the python script method), including steps such as filtering, cleaning, and mapping, to prepare it for storage in a MySQL (SQL server) database.  </a:t>
            </a:r>
            <a:endParaRPr dirty="0"/>
          </a:p>
        </p:txBody>
      </p:sp>
      <p:sp>
        <p:nvSpPr>
          <p:cNvPr id="839" name="Google Shape;839;p27"/>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840" name="Google Shape;840;p27"/>
          <p:cNvSpPr txBox="1">
            <a:spLocks noGrp="1"/>
          </p:cNvSpPr>
          <p:nvPr>
            <p:ph type="subTitle" idx="2"/>
          </p:nvPr>
        </p:nvSpPr>
        <p:spPr>
          <a:xfrm>
            <a:off x="4696800" y="1723694"/>
            <a:ext cx="3550800" cy="263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The structured database serves as the foundation for a robust data warehouse, organizing information into dimensions and facts for analytical purposes.</a:t>
            </a:r>
          </a:p>
          <a:p>
            <a:pPr marL="0" lvl="0" indent="0" algn="ctr" rtl="0">
              <a:spcBef>
                <a:spcPts val="0"/>
              </a:spcBef>
              <a:spcAft>
                <a:spcPts val="0"/>
              </a:spcAft>
              <a:buNone/>
            </a:pPr>
            <a:r>
              <a:rPr lang="en-US" dirty="0"/>
              <a:t> Finally, Pentaho was utilized to create an OLAP cube, enabling multidimensional analysis and advanced reporting capabilities. This workflow demonstrates the seamless integration of ETL, data modeling, and business intelligence tools to derive actionable insights from raw data.</a:t>
            </a:r>
            <a:endParaRPr dirty="0"/>
          </a:p>
        </p:txBody>
      </p:sp>
      <p:grpSp>
        <p:nvGrpSpPr>
          <p:cNvPr id="841" name="Google Shape;841;p27"/>
          <p:cNvGrpSpPr/>
          <p:nvPr/>
        </p:nvGrpSpPr>
        <p:grpSpPr>
          <a:xfrm>
            <a:off x="247978" y="902744"/>
            <a:ext cx="9024608" cy="1013340"/>
            <a:chOff x="247978" y="902744"/>
            <a:chExt cx="9024608" cy="1013340"/>
          </a:xfrm>
        </p:grpSpPr>
        <p:grpSp>
          <p:nvGrpSpPr>
            <p:cNvPr id="842" name="Google Shape;842;p27"/>
            <p:cNvGrpSpPr/>
            <p:nvPr/>
          </p:nvGrpSpPr>
          <p:grpSpPr>
            <a:xfrm>
              <a:off x="8282554" y="902744"/>
              <a:ext cx="990031" cy="1013340"/>
              <a:chOff x="8264880" y="1119240"/>
              <a:chExt cx="1865520" cy="1909440"/>
            </a:xfrm>
          </p:grpSpPr>
          <p:sp>
            <p:nvSpPr>
              <p:cNvPr id="843" name="Google Shape;843;p27"/>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B7EF610-9BB2-7E72-1C58-8251616CF6E0}"/>
            </a:ext>
          </a:extLst>
        </p:cNvPr>
        <p:cNvGrpSpPr/>
        <p:nvPr/>
      </p:nvGrpSpPr>
      <p:grpSpPr>
        <a:xfrm>
          <a:off x="0" y="0"/>
          <a:ext cx="0" cy="0"/>
          <a:chOff x="0" y="0"/>
          <a:chExt cx="0" cy="0"/>
        </a:xfrm>
      </p:grpSpPr>
      <p:sp>
        <p:nvSpPr>
          <p:cNvPr id="839" name="Google Shape;839;p27">
            <a:extLst>
              <a:ext uri="{FF2B5EF4-FFF2-40B4-BE49-F238E27FC236}">
                <a16:creationId xmlns:a16="http://schemas.microsoft.com/office/drawing/2014/main" id="{97F5772F-3635-7A91-ABDF-AF025823457D}"/>
              </a:ext>
            </a:extLst>
          </p:cNvPr>
          <p:cNvSpPr txBox="1">
            <a:spLocks noGrp="1"/>
          </p:cNvSpPr>
          <p:nvPr>
            <p:ph type="title"/>
          </p:nvPr>
        </p:nvSpPr>
        <p:spPr>
          <a:xfrm>
            <a:off x="896753" y="755776"/>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Conception</a:t>
            </a:r>
            <a:endParaRPr dirty="0"/>
          </a:p>
        </p:txBody>
      </p:sp>
      <p:grpSp>
        <p:nvGrpSpPr>
          <p:cNvPr id="841" name="Google Shape;841;p27">
            <a:extLst>
              <a:ext uri="{FF2B5EF4-FFF2-40B4-BE49-F238E27FC236}">
                <a16:creationId xmlns:a16="http://schemas.microsoft.com/office/drawing/2014/main" id="{5127D3D5-6776-AF9E-6E91-17421783B02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2A4791EF-0BDA-0AEF-813C-052F3B88AFB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B41697B5-F8BC-875E-C3E1-0E68A8B00D81}"/>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E0C43733-415E-EA94-4B9D-ADBF2A56AA6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0651D9A-62F5-249D-9A05-5DD26D028E0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2066644-4DB8-0B93-84E9-576D8F5003B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D16B2C8-E47E-C93D-ED35-B93BC475EA52}"/>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42BDB17-BCC7-484B-C772-A0B0CBDEE7E4}"/>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9724CE0E-56DD-E7EB-BEDC-B0D2A664069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aphicFrame>
        <p:nvGraphicFramePr>
          <p:cNvPr id="6" name="Table 3">
            <a:extLst>
              <a:ext uri="{FF2B5EF4-FFF2-40B4-BE49-F238E27FC236}">
                <a16:creationId xmlns:a16="http://schemas.microsoft.com/office/drawing/2014/main" id="{A33DB782-3BD4-0ECD-DABE-2DD2F68F55CF}"/>
              </a:ext>
            </a:extLst>
          </p:cNvPr>
          <p:cNvGraphicFramePr>
            <a:graphicFrameLocks noGrp="1"/>
          </p:cNvGraphicFramePr>
          <p:nvPr>
            <p:extLst>
              <p:ext uri="{D42A27DB-BD31-4B8C-83A1-F6EECF244321}">
                <p14:modId xmlns:p14="http://schemas.microsoft.com/office/powerpoint/2010/main" val="1402741146"/>
              </p:ext>
            </p:extLst>
          </p:nvPr>
        </p:nvGraphicFramePr>
        <p:xfrm>
          <a:off x="3708436" y="2165056"/>
          <a:ext cx="1612490" cy="1622811"/>
        </p:xfrm>
        <a:graphic>
          <a:graphicData uri="http://schemas.openxmlformats.org/drawingml/2006/table">
            <a:tbl>
              <a:tblPr firstRow="1" bandRow="1">
                <a:tableStyleId>{5C22544A-7EE6-4342-B048-85BDC9FD1C3A}</a:tableStyleId>
              </a:tblPr>
              <a:tblGrid>
                <a:gridCol w="1612490">
                  <a:extLst>
                    <a:ext uri="{9D8B030D-6E8A-4147-A177-3AD203B41FA5}">
                      <a16:colId xmlns:a16="http://schemas.microsoft.com/office/drawing/2014/main" val="1578764009"/>
                    </a:ext>
                  </a:extLst>
                </a:gridCol>
              </a:tblGrid>
              <a:tr h="330242">
                <a:tc>
                  <a:txBody>
                    <a:bodyPr/>
                    <a:lstStyle/>
                    <a:p>
                      <a:pPr algn="ctr"/>
                      <a:r>
                        <a:rPr lang="en-US" dirty="0" err="1"/>
                        <a:t>Price_Analitics</a:t>
                      </a:r>
                      <a:endParaRPr lang="en-US" dirty="0"/>
                    </a:p>
                  </a:txBody>
                  <a:tcPr/>
                </a:tc>
                <a:extLst>
                  <a:ext uri="{0D108BD9-81ED-4DB2-BD59-A6C34878D82A}">
                    <a16:rowId xmlns:a16="http://schemas.microsoft.com/office/drawing/2014/main" val="2285886709"/>
                  </a:ext>
                </a:extLst>
              </a:tr>
              <a:tr h="1292569">
                <a:tc>
                  <a:txBody>
                    <a:bodyPr/>
                    <a:lstStyle/>
                    <a:p>
                      <a:endParaRPr lang="en-US" dirty="0"/>
                    </a:p>
                    <a:p>
                      <a:endParaRPr lang="en-US" dirty="0"/>
                    </a:p>
                    <a:p>
                      <a:r>
                        <a:rPr lang="en-US" dirty="0"/>
                        <a:t>Price</a:t>
                      </a:r>
                    </a:p>
                    <a:p>
                      <a:endParaRPr lang="en-US" dirty="0"/>
                    </a:p>
                  </a:txBody>
                  <a:tcPr/>
                </a:tc>
                <a:extLst>
                  <a:ext uri="{0D108BD9-81ED-4DB2-BD59-A6C34878D82A}">
                    <a16:rowId xmlns:a16="http://schemas.microsoft.com/office/drawing/2014/main" val="3685559285"/>
                  </a:ext>
                </a:extLst>
              </a:tr>
            </a:tbl>
          </a:graphicData>
        </a:graphic>
      </p:graphicFrame>
      <p:sp>
        <p:nvSpPr>
          <p:cNvPr id="7" name="Rectangle 6">
            <a:extLst>
              <a:ext uri="{FF2B5EF4-FFF2-40B4-BE49-F238E27FC236}">
                <a16:creationId xmlns:a16="http://schemas.microsoft.com/office/drawing/2014/main" id="{E644D142-ADB7-4D80-FA32-AF20210E7096}"/>
              </a:ext>
            </a:extLst>
          </p:cNvPr>
          <p:cNvSpPr/>
          <p:nvPr/>
        </p:nvSpPr>
        <p:spPr>
          <a:xfrm>
            <a:off x="5398481" y="2630929"/>
            <a:ext cx="1089705" cy="570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information</a:t>
            </a:r>
          </a:p>
        </p:txBody>
      </p:sp>
      <p:sp>
        <p:nvSpPr>
          <p:cNvPr id="9" name="Oval 11">
            <a:extLst>
              <a:ext uri="{FF2B5EF4-FFF2-40B4-BE49-F238E27FC236}">
                <a16:creationId xmlns:a16="http://schemas.microsoft.com/office/drawing/2014/main" id="{2867878B-91D4-DCBE-A978-60C3133B06F9}"/>
              </a:ext>
            </a:extLst>
          </p:cNvPr>
          <p:cNvSpPr/>
          <p:nvPr/>
        </p:nvSpPr>
        <p:spPr>
          <a:xfrm flipH="1">
            <a:off x="6501004" y="2869547"/>
            <a:ext cx="129474" cy="117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13">
            <a:extLst>
              <a:ext uri="{FF2B5EF4-FFF2-40B4-BE49-F238E27FC236}">
                <a16:creationId xmlns:a16="http://schemas.microsoft.com/office/drawing/2014/main" id="{1DAAA0BB-60E2-5349-AF63-10208330920C}"/>
              </a:ext>
            </a:extLst>
          </p:cNvPr>
          <p:cNvCxnSpPr>
            <a:cxnSpLocks/>
            <a:stCxn id="9" idx="7"/>
          </p:cNvCxnSpPr>
          <p:nvPr/>
        </p:nvCxnSpPr>
        <p:spPr>
          <a:xfrm flipV="1">
            <a:off x="6519965" y="2233895"/>
            <a:ext cx="749609" cy="652917"/>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5">
            <a:extLst>
              <a:ext uri="{FF2B5EF4-FFF2-40B4-BE49-F238E27FC236}">
                <a16:creationId xmlns:a16="http://schemas.microsoft.com/office/drawing/2014/main" id="{72DAB935-7375-AEA1-3201-EE5F9E17264C}"/>
              </a:ext>
            </a:extLst>
          </p:cNvPr>
          <p:cNvCxnSpPr>
            <a:cxnSpLocks/>
            <a:stCxn id="9" idx="4"/>
          </p:cNvCxnSpPr>
          <p:nvPr/>
        </p:nvCxnSpPr>
        <p:spPr>
          <a:xfrm>
            <a:off x="6565741" y="2987437"/>
            <a:ext cx="1074770" cy="506299"/>
          </a:xfrm>
          <a:prstGeom prst="line">
            <a:avLst/>
          </a:prstGeom>
        </p:spPr>
        <p:style>
          <a:lnRef idx="1">
            <a:schemeClr val="dk1"/>
          </a:lnRef>
          <a:fillRef idx="0">
            <a:schemeClr val="dk1"/>
          </a:fillRef>
          <a:effectRef idx="0">
            <a:schemeClr val="dk1"/>
          </a:effectRef>
          <a:fontRef idx="minor">
            <a:schemeClr val="tx1"/>
          </a:fontRef>
        </p:style>
      </p:cxnSp>
      <p:sp>
        <p:nvSpPr>
          <p:cNvPr id="12" name="TextBox 27">
            <a:extLst>
              <a:ext uri="{FF2B5EF4-FFF2-40B4-BE49-F238E27FC236}">
                <a16:creationId xmlns:a16="http://schemas.microsoft.com/office/drawing/2014/main" id="{ED122454-D05B-0362-4E64-CC99BD6762C4}"/>
              </a:ext>
            </a:extLst>
          </p:cNvPr>
          <p:cNvSpPr txBox="1"/>
          <p:nvPr/>
        </p:nvSpPr>
        <p:spPr>
          <a:xfrm>
            <a:off x="7326211" y="2093361"/>
            <a:ext cx="1248697" cy="307777"/>
          </a:xfrm>
          <a:prstGeom prst="rect">
            <a:avLst/>
          </a:prstGeom>
          <a:noFill/>
        </p:spPr>
        <p:txBody>
          <a:bodyPr wrap="square" rtlCol="0">
            <a:spAutoFit/>
          </a:bodyPr>
          <a:lstStyle/>
          <a:p>
            <a:r>
              <a:rPr lang="en-US" dirty="0" err="1"/>
              <a:t>Fueltype</a:t>
            </a:r>
            <a:endParaRPr lang="en-US" dirty="0"/>
          </a:p>
        </p:txBody>
      </p:sp>
      <p:sp>
        <p:nvSpPr>
          <p:cNvPr id="13" name="TextBox 28">
            <a:extLst>
              <a:ext uri="{FF2B5EF4-FFF2-40B4-BE49-F238E27FC236}">
                <a16:creationId xmlns:a16="http://schemas.microsoft.com/office/drawing/2014/main" id="{2FB949C3-31F7-7EE1-B82C-52E2EDB44141}"/>
              </a:ext>
            </a:extLst>
          </p:cNvPr>
          <p:cNvSpPr txBox="1"/>
          <p:nvPr/>
        </p:nvSpPr>
        <p:spPr>
          <a:xfrm>
            <a:off x="7441708" y="3497665"/>
            <a:ext cx="1612490" cy="307777"/>
          </a:xfrm>
          <a:prstGeom prst="rect">
            <a:avLst/>
          </a:prstGeom>
          <a:noFill/>
        </p:spPr>
        <p:txBody>
          <a:bodyPr wrap="square" rtlCol="0">
            <a:spAutoFit/>
          </a:bodyPr>
          <a:lstStyle/>
          <a:p>
            <a:r>
              <a:rPr lang="en-US" dirty="0"/>
              <a:t>Transmission</a:t>
            </a:r>
          </a:p>
        </p:txBody>
      </p:sp>
      <p:sp>
        <p:nvSpPr>
          <p:cNvPr id="14" name="Rectangle 13">
            <a:extLst>
              <a:ext uri="{FF2B5EF4-FFF2-40B4-BE49-F238E27FC236}">
                <a16:creationId xmlns:a16="http://schemas.microsoft.com/office/drawing/2014/main" id="{A37BD09D-A7F3-581C-D792-5F175050FDFD}"/>
              </a:ext>
            </a:extLst>
          </p:cNvPr>
          <p:cNvSpPr/>
          <p:nvPr/>
        </p:nvSpPr>
        <p:spPr>
          <a:xfrm>
            <a:off x="4015460" y="4015510"/>
            <a:ext cx="998442" cy="548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date</a:t>
            </a:r>
          </a:p>
          <a:p>
            <a:pPr algn="ctr"/>
            <a:endParaRPr lang="en-US" dirty="0"/>
          </a:p>
        </p:txBody>
      </p:sp>
      <p:sp>
        <p:nvSpPr>
          <p:cNvPr id="15" name="Oval 39">
            <a:extLst>
              <a:ext uri="{FF2B5EF4-FFF2-40B4-BE49-F238E27FC236}">
                <a16:creationId xmlns:a16="http://schemas.microsoft.com/office/drawing/2014/main" id="{7831F164-3737-CEF6-C4F4-DD524FBB9D82}"/>
              </a:ext>
            </a:extLst>
          </p:cNvPr>
          <p:cNvSpPr/>
          <p:nvPr/>
        </p:nvSpPr>
        <p:spPr>
          <a:xfrm>
            <a:off x="5013902" y="4229385"/>
            <a:ext cx="123726" cy="1208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47">
            <a:extLst>
              <a:ext uri="{FF2B5EF4-FFF2-40B4-BE49-F238E27FC236}">
                <a16:creationId xmlns:a16="http://schemas.microsoft.com/office/drawing/2014/main" id="{BDBE8DB1-6853-12B7-2EB9-0BB6B54EE660}"/>
              </a:ext>
            </a:extLst>
          </p:cNvPr>
          <p:cNvSpPr/>
          <p:nvPr/>
        </p:nvSpPr>
        <p:spPr>
          <a:xfrm>
            <a:off x="6467062" y="4249736"/>
            <a:ext cx="123726" cy="107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51">
            <a:extLst>
              <a:ext uri="{FF2B5EF4-FFF2-40B4-BE49-F238E27FC236}">
                <a16:creationId xmlns:a16="http://schemas.microsoft.com/office/drawing/2014/main" id="{B20491CB-B240-F65E-1B00-D139956AE786}"/>
              </a:ext>
            </a:extLst>
          </p:cNvPr>
          <p:cNvSpPr txBox="1"/>
          <p:nvPr/>
        </p:nvSpPr>
        <p:spPr>
          <a:xfrm>
            <a:off x="6463328" y="2583203"/>
            <a:ext cx="1612491" cy="523220"/>
          </a:xfrm>
          <a:prstGeom prst="rect">
            <a:avLst/>
          </a:prstGeom>
          <a:noFill/>
        </p:spPr>
        <p:txBody>
          <a:bodyPr wrap="square" rtlCol="0">
            <a:spAutoFit/>
          </a:bodyPr>
          <a:lstStyle/>
          <a:p>
            <a:r>
              <a:rPr lang="en-US" dirty="0" err="1"/>
              <a:t>ID_information</a:t>
            </a:r>
            <a:endParaRPr lang="en-US" dirty="0"/>
          </a:p>
          <a:p>
            <a:endParaRPr lang="en-US" dirty="0"/>
          </a:p>
        </p:txBody>
      </p:sp>
      <p:sp>
        <p:nvSpPr>
          <p:cNvPr id="21" name="Rectangle 20">
            <a:extLst>
              <a:ext uri="{FF2B5EF4-FFF2-40B4-BE49-F238E27FC236}">
                <a16:creationId xmlns:a16="http://schemas.microsoft.com/office/drawing/2014/main" id="{0A949086-743A-48CE-C925-2C16B8E14DA3}"/>
              </a:ext>
            </a:extLst>
          </p:cNvPr>
          <p:cNvSpPr/>
          <p:nvPr/>
        </p:nvSpPr>
        <p:spPr>
          <a:xfrm>
            <a:off x="2545204" y="2365148"/>
            <a:ext cx="998441" cy="6622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Mileage</a:t>
            </a:r>
          </a:p>
        </p:txBody>
      </p:sp>
      <p:cxnSp>
        <p:nvCxnSpPr>
          <p:cNvPr id="22" name="Straight Connector 60">
            <a:extLst>
              <a:ext uri="{FF2B5EF4-FFF2-40B4-BE49-F238E27FC236}">
                <a16:creationId xmlns:a16="http://schemas.microsoft.com/office/drawing/2014/main" id="{8EA47BA2-97BA-54EA-8E03-6D8A19801A20}"/>
              </a:ext>
            </a:extLst>
          </p:cNvPr>
          <p:cNvCxnSpPr>
            <a:cxnSpLocks/>
            <a:endCxn id="7" idx="1"/>
          </p:cNvCxnSpPr>
          <p:nvPr/>
        </p:nvCxnSpPr>
        <p:spPr>
          <a:xfrm>
            <a:off x="5290319" y="2872798"/>
            <a:ext cx="108162" cy="43267"/>
          </a:xfrm>
          <a:prstGeom prst="line">
            <a:avLst/>
          </a:prstGeom>
        </p:spPr>
        <p:style>
          <a:lnRef idx="1">
            <a:schemeClr val="dk1"/>
          </a:lnRef>
          <a:fillRef idx="0">
            <a:schemeClr val="dk1"/>
          </a:fillRef>
          <a:effectRef idx="0">
            <a:schemeClr val="dk1"/>
          </a:effectRef>
          <a:fontRef idx="minor">
            <a:schemeClr val="tx1"/>
          </a:fontRef>
        </p:style>
      </p:cxnSp>
      <p:sp>
        <p:nvSpPr>
          <p:cNvPr id="23" name="Oval 62">
            <a:extLst>
              <a:ext uri="{FF2B5EF4-FFF2-40B4-BE49-F238E27FC236}">
                <a16:creationId xmlns:a16="http://schemas.microsoft.com/office/drawing/2014/main" id="{7127A2F9-E83A-E7D5-424E-74C0EBF6AA1B}"/>
              </a:ext>
            </a:extLst>
          </p:cNvPr>
          <p:cNvSpPr/>
          <p:nvPr/>
        </p:nvSpPr>
        <p:spPr>
          <a:xfrm>
            <a:off x="2429386" y="2696274"/>
            <a:ext cx="123726" cy="1071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63">
            <a:extLst>
              <a:ext uri="{FF2B5EF4-FFF2-40B4-BE49-F238E27FC236}">
                <a16:creationId xmlns:a16="http://schemas.microsoft.com/office/drawing/2014/main" id="{24D24D2A-539B-0E12-DC3D-D49B6883537E}"/>
              </a:ext>
            </a:extLst>
          </p:cNvPr>
          <p:cNvSpPr/>
          <p:nvPr/>
        </p:nvSpPr>
        <p:spPr>
          <a:xfrm>
            <a:off x="1275642" y="2255408"/>
            <a:ext cx="109295" cy="1259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65">
            <a:extLst>
              <a:ext uri="{FF2B5EF4-FFF2-40B4-BE49-F238E27FC236}">
                <a16:creationId xmlns:a16="http://schemas.microsoft.com/office/drawing/2014/main" id="{0C2A9C2A-13C9-AD48-CA0E-C70C2D5E7F3F}"/>
              </a:ext>
            </a:extLst>
          </p:cNvPr>
          <p:cNvCxnSpPr>
            <a:cxnSpLocks/>
          </p:cNvCxnSpPr>
          <p:nvPr/>
        </p:nvCxnSpPr>
        <p:spPr>
          <a:xfrm flipH="1" flipV="1">
            <a:off x="2135328" y="2301385"/>
            <a:ext cx="392563" cy="401389"/>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73">
            <a:extLst>
              <a:ext uri="{FF2B5EF4-FFF2-40B4-BE49-F238E27FC236}">
                <a16:creationId xmlns:a16="http://schemas.microsoft.com/office/drawing/2014/main" id="{6FB4DE2A-94E6-FC7E-B496-23AEF730456C}"/>
              </a:ext>
            </a:extLst>
          </p:cNvPr>
          <p:cNvCxnSpPr>
            <a:cxnSpLocks/>
          </p:cNvCxnSpPr>
          <p:nvPr/>
        </p:nvCxnSpPr>
        <p:spPr>
          <a:xfrm flipH="1">
            <a:off x="1356852" y="2301385"/>
            <a:ext cx="778476" cy="0"/>
          </a:xfrm>
          <a:prstGeom prst="line">
            <a:avLst/>
          </a:prstGeom>
        </p:spPr>
        <p:style>
          <a:lnRef idx="1">
            <a:schemeClr val="dk1"/>
          </a:lnRef>
          <a:fillRef idx="0">
            <a:schemeClr val="dk1"/>
          </a:fillRef>
          <a:effectRef idx="0">
            <a:schemeClr val="dk1"/>
          </a:effectRef>
          <a:fontRef idx="minor">
            <a:schemeClr val="tx1"/>
          </a:fontRef>
        </p:style>
      </p:cxnSp>
      <p:sp>
        <p:nvSpPr>
          <p:cNvPr id="27" name="TextBox 84">
            <a:extLst>
              <a:ext uri="{FF2B5EF4-FFF2-40B4-BE49-F238E27FC236}">
                <a16:creationId xmlns:a16="http://schemas.microsoft.com/office/drawing/2014/main" id="{740ACF25-4AB2-545E-148D-55B029017E25}"/>
              </a:ext>
            </a:extLst>
          </p:cNvPr>
          <p:cNvSpPr txBox="1"/>
          <p:nvPr/>
        </p:nvSpPr>
        <p:spPr>
          <a:xfrm>
            <a:off x="921700" y="1850300"/>
            <a:ext cx="1333022" cy="307777"/>
          </a:xfrm>
          <a:prstGeom prst="rect">
            <a:avLst/>
          </a:prstGeom>
          <a:noFill/>
        </p:spPr>
        <p:txBody>
          <a:bodyPr wrap="square" rtlCol="0">
            <a:spAutoFit/>
          </a:bodyPr>
          <a:lstStyle/>
          <a:p>
            <a:r>
              <a:rPr lang="en-US" dirty="0"/>
              <a:t>Mileage</a:t>
            </a:r>
          </a:p>
        </p:txBody>
      </p:sp>
      <p:sp>
        <p:nvSpPr>
          <p:cNvPr id="28" name="TextBox 87">
            <a:extLst>
              <a:ext uri="{FF2B5EF4-FFF2-40B4-BE49-F238E27FC236}">
                <a16:creationId xmlns:a16="http://schemas.microsoft.com/office/drawing/2014/main" id="{2A2C7D18-27D2-AFED-BDE0-941CA8D717D6}"/>
              </a:ext>
            </a:extLst>
          </p:cNvPr>
          <p:cNvSpPr txBox="1"/>
          <p:nvPr/>
        </p:nvSpPr>
        <p:spPr>
          <a:xfrm>
            <a:off x="1305495" y="2628526"/>
            <a:ext cx="1808954" cy="307777"/>
          </a:xfrm>
          <a:prstGeom prst="rect">
            <a:avLst/>
          </a:prstGeom>
          <a:noFill/>
        </p:spPr>
        <p:txBody>
          <a:bodyPr wrap="square" rtlCol="0">
            <a:spAutoFit/>
          </a:bodyPr>
          <a:lstStyle/>
          <a:p>
            <a:r>
              <a:rPr lang="en-US" dirty="0"/>
              <a:t>ID_Mileage</a:t>
            </a:r>
          </a:p>
        </p:txBody>
      </p:sp>
      <p:sp>
        <p:nvSpPr>
          <p:cNvPr id="29" name="Rectangle 28">
            <a:extLst>
              <a:ext uri="{FF2B5EF4-FFF2-40B4-BE49-F238E27FC236}">
                <a16:creationId xmlns:a16="http://schemas.microsoft.com/office/drawing/2014/main" id="{135184B4-49C6-5DC2-949A-C64B6E9354A0}"/>
              </a:ext>
            </a:extLst>
          </p:cNvPr>
          <p:cNvSpPr/>
          <p:nvPr/>
        </p:nvSpPr>
        <p:spPr>
          <a:xfrm>
            <a:off x="4146127" y="1565699"/>
            <a:ext cx="737108" cy="4812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AAD0EF86-73C6-693C-CDA0-298464E062B9}"/>
              </a:ext>
            </a:extLst>
          </p:cNvPr>
          <p:cNvSpPr txBox="1"/>
          <p:nvPr/>
        </p:nvSpPr>
        <p:spPr>
          <a:xfrm>
            <a:off x="4146127" y="1649744"/>
            <a:ext cx="1168318" cy="307777"/>
          </a:xfrm>
          <a:prstGeom prst="rect">
            <a:avLst/>
          </a:prstGeom>
          <a:noFill/>
        </p:spPr>
        <p:txBody>
          <a:bodyPr wrap="square" rtlCol="0">
            <a:spAutoFit/>
          </a:bodyPr>
          <a:lstStyle/>
          <a:p>
            <a:r>
              <a:rPr lang="fr-FR" dirty="0">
                <a:solidFill>
                  <a:schemeClr val="bg1"/>
                </a:solidFill>
              </a:rPr>
              <a:t>Brand</a:t>
            </a:r>
          </a:p>
        </p:txBody>
      </p:sp>
      <p:sp>
        <p:nvSpPr>
          <p:cNvPr id="834" name="Organigramme : Connecteur 833">
            <a:extLst>
              <a:ext uri="{FF2B5EF4-FFF2-40B4-BE49-F238E27FC236}">
                <a16:creationId xmlns:a16="http://schemas.microsoft.com/office/drawing/2014/main" id="{42E550B8-90A6-9540-32AA-74BDE5EF3368}"/>
              </a:ext>
            </a:extLst>
          </p:cNvPr>
          <p:cNvSpPr/>
          <p:nvPr/>
        </p:nvSpPr>
        <p:spPr>
          <a:xfrm>
            <a:off x="4875962" y="1720454"/>
            <a:ext cx="127820" cy="1298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5" name="ZoneTexte 834">
            <a:extLst>
              <a:ext uri="{FF2B5EF4-FFF2-40B4-BE49-F238E27FC236}">
                <a16:creationId xmlns:a16="http://schemas.microsoft.com/office/drawing/2014/main" id="{C5278D34-9D70-F0B9-CD05-7E12BB66573F}"/>
              </a:ext>
            </a:extLst>
          </p:cNvPr>
          <p:cNvSpPr txBox="1"/>
          <p:nvPr/>
        </p:nvSpPr>
        <p:spPr>
          <a:xfrm>
            <a:off x="4959968" y="1512136"/>
            <a:ext cx="1568957" cy="307777"/>
          </a:xfrm>
          <a:prstGeom prst="rect">
            <a:avLst/>
          </a:prstGeom>
          <a:noFill/>
        </p:spPr>
        <p:txBody>
          <a:bodyPr wrap="square" rtlCol="0">
            <a:spAutoFit/>
          </a:bodyPr>
          <a:lstStyle/>
          <a:p>
            <a:r>
              <a:rPr lang="fr-FR" dirty="0" err="1"/>
              <a:t>ID_brand</a:t>
            </a:r>
            <a:endParaRPr lang="fr-FR" dirty="0"/>
          </a:p>
        </p:txBody>
      </p:sp>
      <p:sp>
        <p:nvSpPr>
          <p:cNvPr id="836" name="ZoneTexte 835">
            <a:extLst>
              <a:ext uri="{FF2B5EF4-FFF2-40B4-BE49-F238E27FC236}">
                <a16:creationId xmlns:a16="http://schemas.microsoft.com/office/drawing/2014/main" id="{369A533E-B24F-2861-5104-EEB108E7B62B}"/>
              </a:ext>
            </a:extLst>
          </p:cNvPr>
          <p:cNvSpPr txBox="1"/>
          <p:nvPr/>
        </p:nvSpPr>
        <p:spPr>
          <a:xfrm>
            <a:off x="5943333" y="1535239"/>
            <a:ext cx="1989389" cy="307777"/>
          </a:xfrm>
          <a:prstGeom prst="rect">
            <a:avLst/>
          </a:prstGeom>
          <a:noFill/>
        </p:spPr>
        <p:txBody>
          <a:bodyPr wrap="square" rtlCol="0">
            <a:spAutoFit/>
          </a:bodyPr>
          <a:lstStyle/>
          <a:p>
            <a:r>
              <a:rPr lang="fr-FR" dirty="0"/>
              <a:t>brand</a:t>
            </a:r>
          </a:p>
        </p:txBody>
      </p:sp>
      <p:cxnSp>
        <p:nvCxnSpPr>
          <p:cNvPr id="837" name="Connecteur droit 836">
            <a:extLst>
              <a:ext uri="{FF2B5EF4-FFF2-40B4-BE49-F238E27FC236}">
                <a16:creationId xmlns:a16="http://schemas.microsoft.com/office/drawing/2014/main" id="{35839F11-9EB8-146B-5705-004D6C959E9D}"/>
              </a:ext>
            </a:extLst>
          </p:cNvPr>
          <p:cNvCxnSpPr>
            <a:cxnSpLocks/>
            <a:stCxn id="834" idx="6"/>
          </p:cNvCxnSpPr>
          <p:nvPr/>
        </p:nvCxnSpPr>
        <p:spPr>
          <a:xfrm>
            <a:off x="5003782" y="1785377"/>
            <a:ext cx="1387777" cy="23872"/>
          </a:xfrm>
          <a:prstGeom prst="line">
            <a:avLst/>
          </a:prstGeom>
        </p:spPr>
        <p:style>
          <a:lnRef idx="1">
            <a:schemeClr val="dk1"/>
          </a:lnRef>
          <a:fillRef idx="0">
            <a:schemeClr val="dk1"/>
          </a:fillRef>
          <a:effectRef idx="0">
            <a:schemeClr val="dk1"/>
          </a:effectRef>
          <a:fontRef idx="minor">
            <a:schemeClr val="tx1"/>
          </a:fontRef>
        </p:style>
      </p:cxnSp>
      <p:sp>
        <p:nvSpPr>
          <p:cNvPr id="850" name="ZoneTexte 849">
            <a:extLst>
              <a:ext uri="{FF2B5EF4-FFF2-40B4-BE49-F238E27FC236}">
                <a16:creationId xmlns:a16="http://schemas.microsoft.com/office/drawing/2014/main" id="{8A4ADA60-2246-180D-D09D-A32E3632C8A8}"/>
              </a:ext>
            </a:extLst>
          </p:cNvPr>
          <p:cNvSpPr txBox="1"/>
          <p:nvPr/>
        </p:nvSpPr>
        <p:spPr>
          <a:xfrm>
            <a:off x="5863887" y="1962368"/>
            <a:ext cx="1030147" cy="307777"/>
          </a:xfrm>
          <a:prstGeom prst="rect">
            <a:avLst/>
          </a:prstGeom>
          <a:noFill/>
        </p:spPr>
        <p:txBody>
          <a:bodyPr wrap="square" rtlCol="0">
            <a:spAutoFit/>
          </a:bodyPr>
          <a:lstStyle/>
          <a:p>
            <a:r>
              <a:rPr lang="fr-FR" dirty="0"/>
              <a:t>model</a:t>
            </a:r>
          </a:p>
        </p:txBody>
      </p:sp>
      <p:cxnSp>
        <p:nvCxnSpPr>
          <p:cNvPr id="876" name="Connecteur droit 875">
            <a:extLst>
              <a:ext uri="{FF2B5EF4-FFF2-40B4-BE49-F238E27FC236}">
                <a16:creationId xmlns:a16="http://schemas.microsoft.com/office/drawing/2014/main" id="{3C7C3F6A-7F82-C1E2-AE24-D5EA8D8ABBF9}"/>
              </a:ext>
            </a:extLst>
          </p:cNvPr>
          <p:cNvCxnSpPr>
            <a:cxnSpLocks/>
            <a:stCxn id="15" idx="6"/>
            <a:endCxn id="17" idx="2"/>
          </p:cNvCxnSpPr>
          <p:nvPr/>
        </p:nvCxnSpPr>
        <p:spPr>
          <a:xfrm>
            <a:off x="5137628" y="4289830"/>
            <a:ext cx="1329434" cy="13494"/>
          </a:xfrm>
          <a:prstGeom prst="line">
            <a:avLst/>
          </a:prstGeom>
        </p:spPr>
        <p:style>
          <a:lnRef idx="1">
            <a:schemeClr val="dk1"/>
          </a:lnRef>
          <a:fillRef idx="0">
            <a:schemeClr val="dk1"/>
          </a:fillRef>
          <a:effectRef idx="0">
            <a:schemeClr val="dk1"/>
          </a:effectRef>
          <a:fontRef idx="minor">
            <a:schemeClr val="tx1"/>
          </a:fontRef>
        </p:style>
      </p:cxnSp>
      <p:sp>
        <p:nvSpPr>
          <p:cNvPr id="879" name="ZoneTexte 878">
            <a:extLst>
              <a:ext uri="{FF2B5EF4-FFF2-40B4-BE49-F238E27FC236}">
                <a16:creationId xmlns:a16="http://schemas.microsoft.com/office/drawing/2014/main" id="{50160A1B-2098-B81A-D044-3CC2330856FF}"/>
              </a:ext>
            </a:extLst>
          </p:cNvPr>
          <p:cNvSpPr txBox="1"/>
          <p:nvPr/>
        </p:nvSpPr>
        <p:spPr>
          <a:xfrm>
            <a:off x="5046897" y="3995547"/>
            <a:ext cx="818611" cy="307777"/>
          </a:xfrm>
          <a:prstGeom prst="rect">
            <a:avLst/>
          </a:prstGeom>
          <a:noFill/>
        </p:spPr>
        <p:txBody>
          <a:bodyPr wrap="square" rtlCol="0">
            <a:spAutoFit/>
          </a:bodyPr>
          <a:lstStyle/>
          <a:p>
            <a:r>
              <a:rPr lang="fr-FR" dirty="0"/>
              <a:t>ID_date</a:t>
            </a:r>
          </a:p>
        </p:txBody>
      </p:sp>
      <p:sp>
        <p:nvSpPr>
          <p:cNvPr id="882" name="ZoneTexte 881">
            <a:extLst>
              <a:ext uri="{FF2B5EF4-FFF2-40B4-BE49-F238E27FC236}">
                <a16:creationId xmlns:a16="http://schemas.microsoft.com/office/drawing/2014/main" id="{F797A6F2-3F76-31C3-C3C5-CD694C0C61A9}"/>
              </a:ext>
            </a:extLst>
          </p:cNvPr>
          <p:cNvSpPr txBox="1"/>
          <p:nvPr/>
        </p:nvSpPr>
        <p:spPr>
          <a:xfrm>
            <a:off x="6378960" y="3948232"/>
            <a:ext cx="838025" cy="307777"/>
          </a:xfrm>
          <a:prstGeom prst="rect">
            <a:avLst/>
          </a:prstGeom>
          <a:noFill/>
        </p:spPr>
        <p:txBody>
          <a:bodyPr wrap="square" rtlCol="0">
            <a:spAutoFit/>
          </a:bodyPr>
          <a:lstStyle/>
          <a:p>
            <a:r>
              <a:rPr lang="fr-FR" dirty="0" err="1"/>
              <a:t>year</a:t>
            </a:r>
            <a:endParaRPr lang="fr-FR" dirty="0"/>
          </a:p>
        </p:txBody>
      </p:sp>
      <p:cxnSp>
        <p:nvCxnSpPr>
          <p:cNvPr id="884" name="Connecteur droit 883">
            <a:extLst>
              <a:ext uri="{FF2B5EF4-FFF2-40B4-BE49-F238E27FC236}">
                <a16:creationId xmlns:a16="http://schemas.microsoft.com/office/drawing/2014/main" id="{2311C48E-4DAE-3E80-96E4-1C06A252F4D5}"/>
              </a:ext>
            </a:extLst>
          </p:cNvPr>
          <p:cNvCxnSpPr/>
          <p:nvPr/>
        </p:nvCxnSpPr>
        <p:spPr>
          <a:xfrm flipH="1">
            <a:off x="3543645" y="2803450"/>
            <a:ext cx="164791" cy="0"/>
          </a:xfrm>
          <a:prstGeom prst="line">
            <a:avLst/>
          </a:prstGeom>
        </p:spPr>
        <p:style>
          <a:lnRef idx="1">
            <a:schemeClr val="dk1"/>
          </a:lnRef>
          <a:fillRef idx="0">
            <a:schemeClr val="dk1"/>
          </a:fillRef>
          <a:effectRef idx="0">
            <a:schemeClr val="dk1"/>
          </a:effectRef>
          <a:fontRef idx="minor">
            <a:schemeClr val="tx1"/>
          </a:fontRef>
        </p:style>
      </p:cxnSp>
      <p:cxnSp>
        <p:nvCxnSpPr>
          <p:cNvPr id="886" name="Connecteur droit 885">
            <a:extLst>
              <a:ext uri="{FF2B5EF4-FFF2-40B4-BE49-F238E27FC236}">
                <a16:creationId xmlns:a16="http://schemas.microsoft.com/office/drawing/2014/main" id="{F6A13C27-0EC9-311D-9036-1108FD9114EA}"/>
              </a:ext>
            </a:extLst>
          </p:cNvPr>
          <p:cNvCxnSpPr>
            <a:endCxn id="29" idx="2"/>
          </p:cNvCxnSpPr>
          <p:nvPr/>
        </p:nvCxnSpPr>
        <p:spPr>
          <a:xfrm flipV="1">
            <a:off x="4514681" y="2046973"/>
            <a:ext cx="0" cy="118083"/>
          </a:xfrm>
          <a:prstGeom prst="line">
            <a:avLst/>
          </a:prstGeom>
        </p:spPr>
        <p:style>
          <a:lnRef idx="1">
            <a:schemeClr val="dk1"/>
          </a:lnRef>
          <a:fillRef idx="0">
            <a:schemeClr val="dk1"/>
          </a:fillRef>
          <a:effectRef idx="0">
            <a:schemeClr val="dk1"/>
          </a:effectRef>
          <a:fontRef idx="minor">
            <a:schemeClr val="tx1"/>
          </a:fontRef>
        </p:style>
      </p:cxnSp>
      <p:cxnSp>
        <p:nvCxnSpPr>
          <p:cNvPr id="892" name="Connecteur droit 891">
            <a:extLst>
              <a:ext uri="{FF2B5EF4-FFF2-40B4-BE49-F238E27FC236}">
                <a16:creationId xmlns:a16="http://schemas.microsoft.com/office/drawing/2014/main" id="{48E30992-FDB2-AD31-1B80-CDE950A107CD}"/>
              </a:ext>
            </a:extLst>
          </p:cNvPr>
          <p:cNvCxnSpPr>
            <a:cxnSpLocks/>
            <a:stCxn id="6" idx="2"/>
            <a:endCxn id="14" idx="0"/>
          </p:cNvCxnSpPr>
          <p:nvPr/>
        </p:nvCxnSpPr>
        <p:spPr>
          <a:xfrm>
            <a:off x="4514681" y="3787867"/>
            <a:ext cx="0" cy="227643"/>
          </a:xfrm>
          <a:prstGeom prst="line">
            <a:avLst/>
          </a:prstGeom>
        </p:spPr>
        <p:style>
          <a:lnRef idx="1">
            <a:schemeClr val="dk1"/>
          </a:lnRef>
          <a:fillRef idx="0">
            <a:schemeClr val="dk1"/>
          </a:fillRef>
          <a:effectRef idx="0">
            <a:schemeClr val="dk1"/>
          </a:effectRef>
          <a:fontRef idx="minor">
            <a:schemeClr val="tx1"/>
          </a:fontRef>
        </p:style>
      </p:cxnSp>
      <p:cxnSp>
        <p:nvCxnSpPr>
          <p:cNvPr id="895" name="Connecteur droit 894">
            <a:extLst>
              <a:ext uri="{FF2B5EF4-FFF2-40B4-BE49-F238E27FC236}">
                <a16:creationId xmlns:a16="http://schemas.microsoft.com/office/drawing/2014/main" id="{3A0A174E-6F76-1C63-3455-F2A7D4FA0D6D}"/>
              </a:ext>
            </a:extLst>
          </p:cNvPr>
          <p:cNvCxnSpPr>
            <a:endCxn id="850" idx="1"/>
          </p:cNvCxnSpPr>
          <p:nvPr/>
        </p:nvCxnSpPr>
        <p:spPr>
          <a:xfrm>
            <a:off x="4959968" y="1809249"/>
            <a:ext cx="903919" cy="30700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1115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26"/>
          <p:cNvSpPr txBox="1">
            <a:spLocks noGrp="1"/>
          </p:cNvSpPr>
          <p:nvPr>
            <p:ph type="title" idx="15"/>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Plan</a:t>
            </a:r>
            <a:endParaRPr dirty="0"/>
          </a:p>
        </p:txBody>
      </p:sp>
      <p:sp>
        <p:nvSpPr>
          <p:cNvPr id="826" name="Google Shape;826;p26"/>
          <p:cNvSpPr txBox="1">
            <a:spLocks noGrp="1"/>
          </p:cNvSpPr>
          <p:nvPr>
            <p:ph type="title" idx="5"/>
          </p:nvPr>
        </p:nvSpPr>
        <p:spPr>
          <a:xfrm>
            <a:off x="1169986" y="3027103"/>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828" name="Google Shape;828;p26"/>
          <p:cNvSpPr txBox="1">
            <a:spLocks noGrp="1"/>
          </p:cNvSpPr>
          <p:nvPr>
            <p:ph type="title" idx="7"/>
          </p:nvPr>
        </p:nvSpPr>
        <p:spPr>
          <a:xfrm>
            <a:off x="4853776" y="3008414"/>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830" name="Google Shape;830;p26"/>
          <p:cNvSpPr txBox="1">
            <a:spLocks noGrp="1"/>
          </p:cNvSpPr>
          <p:nvPr>
            <p:ph type="subTitle" idx="9"/>
          </p:nvPr>
        </p:nvSpPr>
        <p:spPr>
          <a:xfrm>
            <a:off x="2004049" y="2992571"/>
            <a:ext cx="2381400" cy="753900"/>
          </a:xfrm>
          <a:prstGeom prst="rect">
            <a:avLst/>
          </a:prstGeom>
        </p:spPr>
        <p:txBody>
          <a:bodyPr spcFirstLastPara="1" wrap="square" lIns="91425" tIns="91425" rIns="91425" bIns="91425" anchor="b" anchorCtr="0">
            <a:noAutofit/>
          </a:bodyPr>
          <a:lstStyle/>
          <a:p>
            <a:pPr marL="0" indent="0"/>
            <a:r>
              <a:rPr lang="fr-FR" dirty="0"/>
              <a:t>Cube Olap</a:t>
            </a:r>
          </a:p>
          <a:p>
            <a:pPr marL="0" lvl="0" indent="0" algn="l" rtl="0">
              <a:spcBef>
                <a:spcPts val="0"/>
              </a:spcBef>
              <a:spcAft>
                <a:spcPts val="0"/>
              </a:spcAft>
              <a:buNone/>
            </a:pPr>
            <a:endParaRPr dirty="0"/>
          </a:p>
        </p:txBody>
      </p:sp>
      <p:sp>
        <p:nvSpPr>
          <p:cNvPr id="832" name="Google Shape;832;p26"/>
          <p:cNvSpPr txBox="1">
            <a:spLocks noGrp="1"/>
          </p:cNvSpPr>
          <p:nvPr>
            <p:ph type="subTitle" idx="14"/>
          </p:nvPr>
        </p:nvSpPr>
        <p:spPr>
          <a:xfrm>
            <a:off x="5687839" y="2702113"/>
            <a:ext cx="2381400" cy="75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dirty="0"/>
              <a:t>Conclusion</a:t>
            </a:r>
            <a:endParaRPr dirty="0"/>
          </a:p>
        </p:txBody>
      </p:sp>
      <p:sp>
        <p:nvSpPr>
          <p:cNvPr id="833" name="Google Shape;833;p26"/>
          <p:cNvSpPr/>
          <p:nvPr/>
        </p:nvSpPr>
        <p:spPr>
          <a:xfrm>
            <a:off x="113525" y="1005538"/>
            <a:ext cx="731396" cy="72428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 name="Google Shape;826;p26">
            <a:extLst>
              <a:ext uri="{FF2B5EF4-FFF2-40B4-BE49-F238E27FC236}">
                <a16:creationId xmlns:a16="http://schemas.microsoft.com/office/drawing/2014/main" id="{6AE7FCC7-5D85-EAAB-139B-15F4E44E4535}"/>
              </a:ext>
            </a:extLst>
          </p:cNvPr>
          <p:cNvSpPr txBox="1">
            <a:spLocks/>
          </p:cNvSpPr>
          <p:nvPr/>
        </p:nvSpPr>
        <p:spPr>
          <a:xfrm>
            <a:off x="1169986" y="2004816"/>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ays One"/>
              <a:buNone/>
              <a:defRPr sz="2400" b="1" i="0" u="none" strike="noStrike" cap="none">
                <a:solidFill>
                  <a:schemeClr val="dk1"/>
                </a:solidFill>
                <a:latin typeface="Days One"/>
                <a:ea typeface="Days One"/>
                <a:cs typeface="Days One"/>
                <a:sym typeface="Days One"/>
              </a:defRPr>
            </a:lvl1pPr>
            <a:lvl2pPr marR="0" lvl="1"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2pPr>
            <a:lvl3pPr marR="0" lvl="2"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3pPr>
            <a:lvl4pPr marR="0" lvl="3"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4pPr>
            <a:lvl5pPr marR="0" lvl="4"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5pPr>
            <a:lvl6pPr marR="0" lvl="5"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6pPr>
            <a:lvl7pPr marR="0" lvl="6"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7pPr>
            <a:lvl8pPr marR="0" lvl="7"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8pPr>
            <a:lvl9pPr marR="0" lvl="8" algn="l"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9pPr>
          </a:lstStyle>
          <a:p>
            <a:r>
              <a:rPr lang="en" dirty="0"/>
              <a:t>01</a:t>
            </a:r>
          </a:p>
        </p:txBody>
      </p:sp>
      <p:sp>
        <p:nvSpPr>
          <p:cNvPr id="9" name="Google Shape;830;p26">
            <a:extLst>
              <a:ext uri="{FF2B5EF4-FFF2-40B4-BE49-F238E27FC236}">
                <a16:creationId xmlns:a16="http://schemas.microsoft.com/office/drawing/2014/main" id="{D0A5A358-0E7B-70AC-4DD2-5A07EF2A1436}"/>
              </a:ext>
            </a:extLst>
          </p:cNvPr>
          <p:cNvSpPr txBox="1">
            <a:spLocks/>
          </p:cNvSpPr>
          <p:nvPr/>
        </p:nvSpPr>
        <p:spPr>
          <a:xfrm>
            <a:off x="2013537" y="1773979"/>
            <a:ext cx="2381400" cy="753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1800" b="1" i="0" u="none" strike="noStrike" cap="none">
                <a:solidFill>
                  <a:schemeClr val="dk1"/>
                </a:solidFill>
                <a:latin typeface="Days One"/>
                <a:ea typeface="Days One"/>
                <a:cs typeface="Days One"/>
                <a:sym typeface="Days On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lvl="0" indent="0" algn="l" rtl="0">
              <a:spcBef>
                <a:spcPts val="0"/>
              </a:spcBef>
              <a:spcAft>
                <a:spcPts val="0"/>
              </a:spcAft>
              <a:buNone/>
            </a:pPr>
            <a:r>
              <a:rPr lang="fr-FR" dirty="0"/>
              <a:t>ETL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5" name="Google Shape;855;p28"/>
          <p:cNvSpPr txBox="1">
            <a:spLocks noGrp="1"/>
          </p:cNvSpPr>
          <p:nvPr>
            <p:ph type="title"/>
          </p:nvPr>
        </p:nvSpPr>
        <p:spPr>
          <a:xfrm>
            <a:off x="1320400" y="2101475"/>
            <a:ext cx="3946800" cy="148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 ETL</a:t>
            </a:r>
            <a:endParaRPr dirty="0"/>
          </a:p>
        </p:txBody>
      </p:sp>
      <p:sp>
        <p:nvSpPr>
          <p:cNvPr id="856" name="Google Shape;856;p28"/>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857" name="Google Shape;857;p28"/>
          <p:cNvGrpSpPr/>
          <p:nvPr/>
        </p:nvGrpSpPr>
        <p:grpSpPr>
          <a:xfrm>
            <a:off x="896410" y="1154974"/>
            <a:ext cx="8191495" cy="3912334"/>
            <a:chOff x="896410" y="1154974"/>
            <a:chExt cx="8191495" cy="3912334"/>
          </a:xfrm>
        </p:grpSpPr>
        <p:sp>
          <p:nvSpPr>
            <p:cNvPr id="858" name="Google Shape;858;p28"/>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p:cNvGrpSpPr/>
            <p:nvPr/>
          </p:nvGrpSpPr>
          <p:grpSpPr>
            <a:xfrm>
              <a:off x="6869363" y="2991188"/>
              <a:ext cx="2218542" cy="2076120"/>
              <a:chOff x="8037720" y="3846600"/>
              <a:chExt cx="1923480" cy="1800000"/>
            </a:xfrm>
          </p:grpSpPr>
          <p:sp>
            <p:nvSpPr>
              <p:cNvPr id="860" name="Google Shape;860;p28"/>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29"/>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dataset</a:t>
            </a:r>
            <a:endParaRPr dirty="0"/>
          </a:p>
        </p:txBody>
      </p:sp>
      <p:sp>
        <p:nvSpPr>
          <p:cNvPr id="878" name="Google Shape;878;p29"/>
          <p:cNvSpPr txBox="1">
            <a:spLocks noGrp="1"/>
          </p:cNvSpPr>
          <p:nvPr>
            <p:ph type="body" idx="1"/>
          </p:nvPr>
        </p:nvSpPr>
        <p:spPr>
          <a:xfrm>
            <a:off x="5855677" y="1970075"/>
            <a:ext cx="2392348" cy="2490900"/>
          </a:xfrm>
          <a:prstGeom prst="rect">
            <a:avLst/>
          </a:prstGeom>
        </p:spPr>
        <p:txBody>
          <a:bodyPr spcFirstLastPara="1" wrap="square" lIns="91425" tIns="91425" rIns="91425" bIns="91425" anchor="t" anchorCtr="0">
            <a:noAutofit/>
          </a:bodyPr>
          <a:lstStyle/>
          <a:p>
            <a:pPr marL="25400" lvl="0" indent="0" algn="l" rtl="0">
              <a:spcBef>
                <a:spcPts val="1600"/>
              </a:spcBef>
              <a:spcAft>
                <a:spcPts val="0"/>
              </a:spcAft>
              <a:buSzPts val="1400"/>
              <a:buNone/>
            </a:pPr>
            <a:r>
              <a:rPr lang="en" dirty="0">
                <a:solidFill>
                  <a:schemeClr val="dk1"/>
                </a:solidFill>
              </a:rPr>
              <a:t>We’ve used a csv file as data source for our datawarehouse project, </a:t>
            </a:r>
          </a:p>
          <a:p>
            <a:pPr marL="25400" lvl="0" indent="0" algn="l" rtl="0">
              <a:spcBef>
                <a:spcPts val="1600"/>
              </a:spcBef>
              <a:spcAft>
                <a:spcPts val="0"/>
              </a:spcAft>
              <a:buSzPts val="1400"/>
              <a:buNone/>
            </a:pPr>
            <a:r>
              <a:rPr lang="en" dirty="0">
                <a:solidFill>
                  <a:schemeClr val="dk1"/>
                </a:solidFill>
              </a:rPr>
              <a:t>the dataset is about used cars to analyse the price of cars based on the brand ,</a:t>
            </a:r>
            <a:r>
              <a:rPr lang="en" dirty="0"/>
              <a:t>year</a:t>
            </a:r>
            <a:r>
              <a:rPr lang="en" dirty="0">
                <a:solidFill>
                  <a:schemeClr val="dk1"/>
                </a:solidFill>
              </a:rPr>
              <a:t>,mileage,etc…</a:t>
            </a:r>
          </a:p>
        </p:txBody>
      </p:sp>
      <p:pic>
        <p:nvPicPr>
          <p:cNvPr id="879" name="Google Shape;879;p29"/>
          <p:cNvPicPr preferRelativeResize="0">
            <a:picLocks noGrp="1"/>
          </p:cNvPicPr>
          <p:nvPr>
            <p:ph type="pic" idx="2"/>
          </p:nvPr>
        </p:nvPicPr>
        <p:blipFill>
          <a:blip r:embed="rId3"/>
          <a:srcRect t="276" b="276"/>
          <a:stretch/>
        </p:blipFill>
        <p:spPr>
          <a:xfrm>
            <a:off x="613441" y="1902006"/>
            <a:ext cx="5242236" cy="2951348"/>
          </a:xfrm>
          <a:prstGeom prst="rect">
            <a:avLst/>
          </a:prstGeom>
        </p:spPr>
      </p:pic>
      <p:grpSp>
        <p:nvGrpSpPr>
          <p:cNvPr id="880" name="Google Shape;880;p29"/>
          <p:cNvGrpSpPr/>
          <p:nvPr/>
        </p:nvGrpSpPr>
        <p:grpSpPr>
          <a:xfrm flipH="1">
            <a:off x="157211" y="941350"/>
            <a:ext cx="1212401" cy="1240945"/>
            <a:chOff x="8264880" y="1119240"/>
            <a:chExt cx="1865520" cy="1909440"/>
          </a:xfrm>
        </p:grpSpPr>
        <p:sp>
          <p:nvSpPr>
            <p:cNvPr id="881" name="Google Shape;881;p29"/>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9"/>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D0424BC3-E0E2-2069-B8ED-C858F8C7D62D}"/>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9805DE84-AA3C-4570-CFCA-2CA39B70A22B}"/>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Extraction in Talend</a:t>
            </a:r>
            <a:endParaRPr dirty="0"/>
          </a:p>
        </p:txBody>
      </p:sp>
      <p:sp>
        <p:nvSpPr>
          <p:cNvPr id="878" name="Google Shape;878;p29">
            <a:extLst>
              <a:ext uri="{FF2B5EF4-FFF2-40B4-BE49-F238E27FC236}">
                <a16:creationId xmlns:a16="http://schemas.microsoft.com/office/drawing/2014/main" id="{0BCC7CD0-9AC3-AB0C-6F3F-8F5E8358A165}"/>
              </a:ext>
            </a:extLst>
          </p:cNvPr>
          <p:cNvSpPr txBox="1">
            <a:spLocks noGrp="1"/>
          </p:cNvSpPr>
          <p:nvPr>
            <p:ph type="body" idx="1"/>
          </p:nvPr>
        </p:nvSpPr>
        <p:spPr>
          <a:xfrm>
            <a:off x="5855677" y="1970075"/>
            <a:ext cx="2392348" cy="2490900"/>
          </a:xfrm>
          <a:prstGeom prst="rect">
            <a:avLst/>
          </a:prstGeom>
        </p:spPr>
        <p:txBody>
          <a:bodyPr spcFirstLastPara="1" wrap="square" lIns="91425" tIns="91425" rIns="91425" bIns="91425" anchor="t" anchorCtr="0">
            <a:noAutofit/>
          </a:bodyPr>
          <a:lstStyle/>
          <a:p>
            <a:pPr marL="25400" lvl="0" indent="0" algn="l" rtl="0">
              <a:spcBef>
                <a:spcPts val="1600"/>
              </a:spcBef>
              <a:spcAft>
                <a:spcPts val="0"/>
              </a:spcAft>
              <a:buSzPts val="1400"/>
              <a:buNone/>
            </a:pPr>
            <a:r>
              <a:rPr lang="en" b="1" dirty="0"/>
              <a:t>Input :</a:t>
            </a:r>
          </a:p>
          <a:p>
            <a:pPr marL="311150" indent="-285750">
              <a:spcBef>
                <a:spcPts val="1600"/>
              </a:spcBef>
            </a:pPr>
            <a:r>
              <a:rPr lang="en" b="1" dirty="0"/>
              <a:t>Cars_File.csv</a:t>
            </a:r>
          </a:p>
          <a:p>
            <a:pPr marL="311150" indent="-285750">
              <a:spcBef>
                <a:spcPts val="1600"/>
              </a:spcBef>
            </a:pPr>
            <a:r>
              <a:rPr lang="en" b="1" dirty="0">
                <a:solidFill>
                  <a:schemeClr val="dk1"/>
                </a:solidFill>
              </a:rPr>
              <a:t>5000 rows</a:t>
            </a:r>
          </a:p>
          <a:p>
            <a:pPr marL="311150" indent="-285750">
              <a:spcBef>
                <a:spcPts val="1600"/>
              </a:spcBef>
            </a:pPr>
            <a:r>
              <a:rPr lang="en" b="1" dirty="0"/>
              <a:t>10 columns</a:t>
            </a:r>
            <a:endParaRPr lang="en" b="1" dirty="0">
              <a:solidFill>
                <a:schemeClr val="dk1"/>
              </a:solidFill>
            </a:endParaRPr>
          </a:p>
        </p:txBody>
      </p:sp>
      <p:pic>
        <p:nvPicPr>
          <p:cNvPr id="879" name="Google Shape;879;p29">
            <a:extLst>
              <a:ext uri="{FF2B5EF4-FFF2-40B4-BE49-F238E27FC236}">
                <a16:creationId xmlns:a16="http://schemas.microsoft.com/office/drawing/2014/main" id="{8F650A63-018E-E6F9-D17B-E575C8D38193}"/>
              </a:ext>
            </a:extLst>
          </p:cNvPr>
          <p:cNvPicPr preferRelativeResize="0">
            <a:picLocks noGrp="1"/>
          </p:cNvPicPr>
          <p:nvPr>
            <p:ph type="pic" idx="2"/>
          </p:nvPr>
        </p:nvPicPr>
        <p:blipFill>
          <a:blip r:embed="rId3"/>
          <a:srcRect t="3022" b="3022"/>
          <a:stretch/>
        </p:blipFill>
        <p:spPr>
          <a:xfrm>
            <a:off x="1160584" y="2093798"/>
            <a:ext cx="3947746" cy="2108352"/>
          </a:xfrm>
          <a:prstGeom prst="rect">
            <a:avLst/>
          </a:prstGeom>
        </p:spPr>
      </p:pic>
      <p:grpSp>
        <p:nvGrpSpPr>
          <p:cNvPr id="880" name="Google Shape;880;p29">
            <a:extLst>
              <a:ext uri="{FF2B5EF4-FFF2-40B4-BE49-F238E27FC236}">
                <a16:creationId xmlns:a16="http://schemas.microsoft.com/office/drawing/2014/main" id="{73C64186-E004-F699-A663-8DBC4B6CF021}"/>
              </a:ext>
            </a:extLst>
          </p:cNvPr>
          <p:cNvGrpSpPr/>
          <p:nvPr/>
        </p:nvGrpSpPr>
        <p:grpSpPr>
          <a:xfrm flipH="1">
            <a:off x="157211" y="941350"/>
            <a:ext cx="1212401" cy="1240945"/>
            <a:chOff x="8264880" y="1119240"/>
            <a:chExt cx="1865520" cy="1909440"/>
          </a:xfrm>
        </p:grpSpPr>
        <p:sp>
          <p:nvSpPr>
            <p:cNvPr id="881" name="Google Shape;881;p29">
              <a:extLst>
                <a:ext uri="{FF2B5EF4-FFF2-40B4-BE49-F238E27FC236}">
                  <a16:creationId xmlns:a16="http://schemas.microsoft.com/office/drawing/2014/main" id="{F7E919BE-5ABE-51EE-51E4-1E49FCFA55E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a:extLst>
                <a:ext uri="{FF2B5EF4-FFF2-40B4-BE49-F238E27FC236}">
                  <a16:creationId xmlns:a16="http://schemas.microsoft.com/office/drawing/2014/main" id="{32190405-CE8F-0996-8025-569B814F6B87}"/>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a:extLst>
                <a:ext uri="{FF2B5EF4-FFF2-40B4-BE49-F238E27FC236}">
                  <a16:creationId xmlns:a16="http://schemas.microsoft.com/office/drawing/2014/main" id="{7AB5F947-671F-DC0A-9635-2A1267C9091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a:extLst>
                <a:ext uri="{FF2B5EF4-FFF2-40B4-BE49-F238E27FC236}">
                  <a16:creationId xmlns:a16="http://schemas.microsoft.com/office/drawing/2014/main" id="{DE872A61-70C8-50BB-4024-F328B8D9AC3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a:extLst>
                <a:ext uri="{FF2B5EF4-FFF2-40B4-BE49-F238E27FC236}">
                  <a16:creationId xmlns:a16="http://schemas.microsoft.com/office/drawing/2014/main" id="{F74412C3-10BA-14CB-3507-1FA6B548E46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9">
              <a:extLst>
                <a:ext uri="{FF2B5EF4-FFF2-40B4-BE49-F238E27FC236}">
                  <a16:creationId xmlns:a16="http://schemas.microsoft.com/office/drawing/2014/main" id="{4069D63B-4AF0-045A-84B4-027558F7CC8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514783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C493E9BC-65FD-F034-9D5A-C2D62141082D}"/>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1E98450C-A723-D2AE-A747-B314F9D1416C}"/>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Extraction in python</a:t>
            </a:r>
            <a:endParaRPr dirty="0"/>
          </a:p>
        </p:txBody>
      </p:sp>
      <p:sp>
        <p:nvSpPr>
          <p:cNvPr id="878" name="Google Shape;878;p29">
            <a:extLst>
              <a:ext uri="{FF2B5EF4-FFF2-40B4-BE49-F238E27FC236}">
                <a16:creationId xmlns:a16="http://schemas.microsoft.com/office/drawing/2014/main" id="{99056A6F-14C7-9835-3AFD-2D39243B3B38}"/>
              </a:ext>
            </a:extLst>
          </p:cNvPr>
          <p:cNvSpPr txBox="1">
            <a:spLocks noGrp="1"/>
          </p:cNvSpPr>
          <p:nvPr>
            <p:ph type="body" idx="1"/>
          </p:nvPr>
        </p:nvSpPr>
        <p:spPr>
          <a:xfrm>
            <a:off x="1231617" y="2182295"/>
            <a:ext cx="6040315" cy="1291871"/>
          </a:xfrm>
          <a:prstGeom prst="rect">
            <a:avLst/>
          </a:prstGeom>
        </p:spPr>
        <p:txBody>
          <a:bodyPr spcFirstLastPara="1" wrap="square" lIns="91425" tIns="91425" rIns="91425" bIns="91425" anchor="t" anchorCtr="0">
            <a:noAutofit/>
          </a:bodyPr>
          <a:lstStyle/>
          <a:p>
            <a:pPr marL="25400" lvl="0" indent="0" algn="l" rtl="0">
              <a:spcBef>
                <a:spcPts val="1600"/>
              </a:spcBef>
              <a:spcAft>
                <a:spcPts val="0"/>
              </a:spcAft>
              <a:buSzPts val="1400"/>
              <a:buNone/>
            </a:pPr>
            <a:r>
              <a:rPr lang="fr-FR" b="1" dirty="0"/>
              <a:t>W</a:t>
            </a:r>
            <a:r>
              <a:rPr lang="en" b="1" dirty="0"/>
              <a:t>e used the pandas library to extract the data from the file used_cars.csv </a:t>
            </a:r>
          </a:p>
        </p:txBody>
      </p:sp>
      <p:grpSp>
        <p:nvGrpSpPr>
          <p:cNvPr id="880" name="Google Shape;880;p29">
            <a:extLst>
              <a:ext uri="{FF2B5EF4-FFF2-40B4-BE49-F238E27FC236}">
                <a16:creationId xmlns:a16="http://schemas.microsoft.com/office/drawing/2014/main" id="{0932C72F-07B7-D5CC-D964-99A3BAE6718C}"/>
              </a:ext>
            </a:extLst>
          </p:cNvPr>
          <p:cNvGrpSpPr/>
          <p:nvPr/>
        </p:nvGrpSpPr>
        <p:grpSpPr>
          <a:xfrm flipH="1">
            <a:off x="157211" y="941350"/>
            <a:ext cx="1212401" cy="1240945"/>
            <a:chOff x="8264880" y="1119240"/>
            <a:chExt cx="1865520" cy="1909440"/>
          </a:xfrm>
        </p:grpSpPr>
        <p:sp>
          <p:nvSpPr>
            <p:cNvPr id="881" name="Google Shape;881;p29">
              <a:extLst>
                <a:ext uri="{FF2B5EF4-FFF2-40B4-BE49-F238E27FC236}">
                  <a16:creationId xmlns:a16="http://schemas.microsoft.com/office/drawing/2014/main" id="{28C381C9-5D4D-B624-7C7C-446DEBF63A8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a:extLst>
                <a:ext uri="{FF2B5EF4-FFF2-40B4-BE49-F238E27FC236}">
                  <a16:creationId xmlns:a16="http://schemas.microsoft.com/office/drawing/2014/main" id="{055F0BFB-AE97-7681-0D28-71CEE07910A7}"/>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a:extLst>
                <a:ext uri="{FF2B5EF4-FFF2-40B4-BE49-F238E27FC236}">
                  <a16:creationId xmlns:a16="http://schemas.microsoft.com/office/drawing/2014/main" id="{F0F99085-A8C8-7128-081B-CE2DD54EBFB7}"/>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a:extLst>
                <a:ext uri="{FF2B5EF4-FFF2-40B4-BE49-F238E27FC236}">
                  <a16:creationId xmlns:a16="http://schemas.microsoft.com/office/drawing/2014/main" id="{373AE342-3401-E837-B002-9E372FCCE72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a:extLst>
                <a:ext uri="{FF2B5EF4-FFF2-40B4-BE49-F238E27FC236}">
                  <a16:creationId xmlns:a16="http://schemas.microsoft.com/office/drawing/2014/main" id="{53C97707-0BA3-0F62-EA9C-01AA2B967CC9}"/>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9">
              <a:extLst>
                <a:ext uri="{FF2B5EF4-FFF2-40B4-BE49-F238E27FC236}">
                  <a16:creationId xmlns:a16="http://schemas.microsoft.com/office/drawing/2014/main" id="{5EB33CDE-02D8-9642-FF15-5BC81986A9B3}"/>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7" name="Image 6" descr="Une image contenant texte, capture d’écran, Police&#10;&#10;Description générée automatiquement">
            <a:extLst>
              <a:ext uri="{FF2B5EF4-FFF2-40B4-BE49-F238E27FC236}">
                <a16:creationId xmlns:a16="http://schemas.microsoft.com/office/drawing/2014/main" id="{554CDF6F-C02E-0D76-697F-59B341DA5B6C}"/>
              </a:ext>
            </a:extLst>
          </p:cNvPr>
          <p:cNvPicPr>
            <a:picLocks noChangeAspect="1"/>
          </p:cNvPicPr>
          <p:nvPr/>
        </p:nvPicPr>
        <p:blipFill>
          <a:blip r:embed="rId3"/>
          <a:stretch>
            <a:fillRect/>
          </a:stretch>
        </p:blipFill>
        <p:spPr>
          <a:xfrm>
            <a:off x="1231617" y="3031822"/>
            <a:ext cx="6590733" cy="942302"/>
          </a:xfrm>
          <a:prstGeom prst="rect">
            <a:avLst/>
          </a:prstGeom>
        </p:spPr>
      </p:pic>
    </p:spTree>
    <p:extLst>
      <p:ext uri="{BB962C8B-B14F-4D97-AF65-F5344CB8AC3E}">
        <p14:creationId xmlns:p14="http://schemas.microsoft.com/office/powerpoint/2010/main" val="200375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F188A438-6DD0-45CB-4279-C09C831183EC}"/>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0F703B06-458D-440B-00F2-5E7BACBF145A}"/>
              </a:ext>
            </a:extLst>
          </p:cNvPr>
          <p:cNvSpPr txBox="1">
            <a:spLocks noGrp="1"/>
          </p:cNvSpPr>
          <p:nvPr>
            <p:ph type="title"/>
          </p:nvPr>
        </p:nvSpPr>
        <p:spPr>
          <a:xfrm>
            <a:off x="-571832" y="994872"/>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pic>
        <p:nvPicPr>
          <p:cNvPr id="3" name="Image 2">
            <a:extLst>
              <a:ext uri="{FF2B5EF4-FFF2-40B4-BE49-F238E27FC236}">
                <a16:creationId xmlns:a16="http://schemas.microsoft.com/office/drawing/2014/main" id="{738CA59C-5FF7-79BA-D641-7D72657274AD}"/>
              </a:ext>
            </a:extLst>
          </p:cNvPr>
          <p:cNvPicPr>
            <a:picLocks noChangeAspect="1"/>
          </p:cNvPicPr>
          <p:nvPr/>
        </p:nvPicPr>
        <p:blipFill>
          <a:blip r:embed="rId3"/>
          <a:stretch>
            <a:fillRect/>
          </a:stretch>
        </p:blipFill>
        <p:spPr>
          <a:xfrm>
            <a:off x="947541" y="2439192"/>
            <a:ext cx="6885217" cy="1379819"/>
          </a:xfrm>
          <a:prstGeom prst="rect">
            <a:avLst/>
          </a:prstGeom>
        </p:spPr>
      </p:pic>
      <p:sp>
        <p:nvSpPr>
          <p:cNvPr id="8" name="ZoneTexte 7">
            <a:extLst>
              <a:ext uri="{FF2B5EF4-FFF2-40B4-BE49-F238E27FC236}">
                <a16:creationId xmlns:a16="http://schemas.microsoft.com/office/drawing/2014/main" id="{9B4D4819-A615-E1BF-EA62-82F2B0FCA042}"/>
              </a:ext>
            </a:extLst>
          </p:cNvPr>
          <p:cNvSpPr txBox="1"/>
          <p:nvPr/>
        </p:nvSpPr>
        <p:spPr>
          <a:xfrm>
            <a:off x="1028700" y="2005067"/>
            <a:ext cx="1239442" cy="307777"/>
          </a:xfrm>
          <a:prstGeom prst="rect">
            <a:avLst/>
          </a:prstGeom>
          <a:noFill/>
        </p:spPr>
        <p:txBody>
          <a:bodyPr wrap="none" rtlCol="0">
            <a:spAutoFit/>
          </a:bodyPr>
          <a:lstStyle/>
          <a:p>
            <a:r>
              <a:rPr lang="fr-FR" dirty="0"/>
              <a:t>tFilterRow_1:</a:t>
            </a:r>
          </a:p>
        </p:txBody>
      </p:sp>
      <p:sp>
        <p:nvSpPr>
          <p:cNvPr id="9" name="ZoneTexte 8">
            <a:extLst>
              <a:ext uri="{FF2B5EF4-FFF2-40B4-BE49-F238E27FC236}">
                <a16:creationId xmlns:a16="http://schemas.microsoft.com/office/drawing/2014/main" id="{3730400F-29E3-3653-BBD0-D009BB686B2E}"/>
              </a:ext>
            </a:extLst>
          </p:cNvPr>
          <p:cNvSpPr txBox="1"/>
          <p:nvPr/>
        </p:nvSpPr>
        <p:spPr>
          <a:xfrm>
            <a:off x="1028700" y="4000298"/>
            <a:ext cx="6245621" cy="307777"/>
          </a:xfrm>
          <a:prstGeom prst="rect">
            <a:avLst/>
          </a:prstGeom>
          <a:noFill/>
        </p:spPr>
        <p:txBody>
          <a:bodyPr wrap="none" rtlCol="0">
            <a:spAutoFit/>
          </a:bodyPr>
          <a:lstStyle/>
          <a:p>
            <a:r>
              <a:rPr lang="en-US" dirty="0"/>
              <a:t>We applied this filter to remove any rows containing illogical or invalid values.</a:t>
            </a:r>
            <a:endParaRPr lang="fr-FR" dirty="0"/>
          </a:p>
        </p:txBody>
      </p:sp>
      <p:pic>
        <p:nvPicPr>
          <p:cNvPr id="11" name="Image 10" descr="Une image contenant texte, Police, ligne, capture d’écran&#10;&#10;Description générée automatiquement">
            <a:extLst>
              <a:ext uri="{FF2B5EF4-FFF2-40B4-BE49-F238E27FC236}">
                <a16:creationId xmlns:a16="http://schemas.microsoft.com/office/drawing/2014/main" id="{463F2125-695D-F874-EA2B-0FD27BF349C6}"/>
              </a:ext>
            </a:extLst>
          </p:cNvPr>
          <p:cNvPicPr>
            <a:picLocks noChangeAspect="1"/>
          </p:cNvPicPr>
          <p:nvPr/>
        </p:nvPicPr>
        <p:blipFill>
          <a:blip r:embed="rId4"/>
          <a:stretch>
            <a:fillRect/>
          </a:stretch>
        </p:blipFill>
        <p:spPr>
          <a:xfrm>
            <a:off x="5481011" y="960632"/>
            <a:ext cx="2781688" cy="1066949"/>
          </a:xfrm>
          <a:prstGeom prst="rect">
            <a:avLst/>
          </a:prstGeom>
        </p:spPr>
      </p:pic>
    </p:spTree>
    <p:extLst>
      <p:ext uri="{BB962C8B-B14F-4D97-AF65-F5344CB8AC3E}">
        <p14:creationId xmlns:p14="http://schemas.microsoft.com/office/powerpoint/2010/main" val="1815960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7066BB41-9F73-042E-1000-F5884CD1524A}"/>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4CD8A5AC-88D9-34C1-82B7-46FA836CF0D5}"/>
              </a:ext>
            </a:extLst>
          </p:cNvPr>
          <p:cNvSpPr txBox="1">
            <a:spLocks noGrp="1"/>
          </p:cNvSpPr>
          <p:nvPr>
            <p:ph type="title"/>
          </p:nvPr>
        </p:nvSpPr>
        <p:spPr>
          <a:xfrm>
            <a:off x="-618013" y="945853"/>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pic>
        <p:nvPicPr>
          <p:cNvPr id="3" name="Image 2">
            <a:extLst>
              <a:ext uri="{FF2B5EF4-FFF2-40B4-BE49-F238E27FC236}">
                <a16:creationId xmlns:a16="http://schemas.microsoft.com/office/drawing/2014/main" id="{C468AB6F-8066-C899-9A66-76C858BE2796}"/>
              </a:ext>
            </a:extLst>
          </p:cNvPr>
          <p:cNvPicPr>
            <a:picLocks noChangeAspect="1"/>
          </p:cNvPicPr>
          <p:nvPr/>
        </p:nvPicPr>
        <p:blipFill>
          <a:blip r:embed="rId3"/>
          <a:srcRect/>
          <a:stretch/>
        </p:blipFill>
        <p:spPr>
          <a:xfrm>
            <a:off x="947541" y="2491581"/>
            <a:ext cx="6885217" cy="1420996"/>
          </a:xfrm>
          <a:prstGeom prst="rect">
            <a:avLst/>
          </a:prstGeom>
        </p:spPr>
      </p:pic>
      <p:sp>
        <p:nvSpPr>
          <p:cNvPr id="8" name="ZoneTexte 7">
            <a:extLst>
              <a:ext uri="{FF2B5EF4-FFF2-40B4-BE49-F238E27FC236}">
                <a16:creationId xmlns:a16="http://schemas.microsoft.com/office/drawing/2014/main" id="{FB03A4A6-9960-FB90-7CD3-33242337A8A5}"/>
              </a:ext>
            </a:extLst>
          </p:cNvPr>
          <p:cNvSpPr txBox="1"/>
          <p:nvPr/>
        </p:nvSpPr>
        <p:spPr>
          <a:xfrm>
            <a:off x="1028700" y="2005067"/>
            <a:ext cx="1239442" cy="307777"/>
          </a:xfrm>
          <a:prstGeom prst="rect">
            <a:avLst/>
          </a:prstGeom>
          <a:noFill/>
        </p:spPr>
        <p:txBody>
          <a:bodyPr wrap="none" rtlCol="0">
            <a:spAutoFit/>
          </a:bodyPr>
          <a:lstStyle/>
          <a:p>
            <a:r>
              <a:rPr lang="fr-FR" dirty="0"/>
              <a:t>tFilterRow_2:</a:t>
            </a:r>
          </a:p>
        </p:txBody>
      </p:sp>
      <p:sp>
        <p:nvSpPr>
          <p:cNvPr id="9" name="ZoneTexte 8">
            <a:extLst>
              <a:ext uri="{FF2B5EF4-FFF2-40B4-BE49-F238E27FC236}">
                <a16:creationId xmlns:a16="http://schemas.microsoft.com/office/drawing/2014/main" id="{2B98D38F-F090-16E9-B2FE-ED77B62EDF30}"/>
              </a:ext>
            </a:extLst>
          </p:cNvPr>
          <p:cNvSpPr txBox="1"/>
          <p:nvPr/>
        </p:nvSpPr>
        <p:spPr>
          <a:xfrm>
            <a:off x="1028700" y="4000298"/>
            <a:ext cx="5328703" cy="307777"/>
          </a:xfrm>
          <a:prstGeom prst="rect">
            <a:avLst/>
          </a:prstGeom>
          <a:noFill/>
        </p:spPr>
        <p:txBody>
          <a:bodyPr wrap="none" rtlCol="0">
            <a:spAutoFit/>
          </a:bodyPr>
          <a:lstStyle/>
          <a:p>
            <a:r>
              <a:rPr lang="en-US" dirty="0"/>
              <a:t>We applied this filter to remove any rows containing a null value.</a:t>
            </a:r>
            <a:endParaRPr lang="fr-FR" dirty="0"/>
          </a:p>
        </p:txBody>
      </p:sp>
      <p:pic>
        <p:nvPicPr>
          <p:cNvPr id="4" name="Image 3" descr="Une image contenant texte, Police, capture d’écran, ligne&#10;&#10;Description générée automatiquement">
            <a:extLst>
              <a:ext uri="{FF2B5EF4-FFF2-40B4-BE49-F238E27FC236}">
                <a16:creationId xmlns:a16="http://schemas.microsoft.com/office/drawing/2014/main" id="{7E153006-DBE1-A258-AC5B-EF0697C603D7}"/>
              </a:ext>
            </a:extLst>
          </p:cNvPr>
          <p:cNvPicPr>
            <a:picLocks noChangeAspect="1"/>
          </p:cNvPicPr>
          <p:nvPr/>
        </p:nvPicPr>
        <p:blipFill>
          <a:blip r:embed="rId4"/>
          <a:stretch>
            <a:fillRect/>
          </a:stretch>
        </p:blipFill>
        <p:spPr>
          <a:xfrm>
            <a:off x="5412078" y="944573"/>
            <a:ext cx="2884544" cy="1060494"/>
          </a:xfrm>
          <a:prstGeom prst="rect">
            <a:avLst/>
          </a:prstGeom>
        </p:spPr>
      </p:pic>
    </p:spTree>
    <p:extLst>
      <p:ext uri="{BB962C8B-B14F-4D97-AF65-F5344CB8AC3E}">
        <p14:creationId xmlns:p14="http://schemas.microsoft.com/office/powerpoint/2010/main" val="3818407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361038D2-3866-DF0E-9308-09EAF73780C5}"/>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141D351B-16C0-D61F-B9E1-5FB11C372398}"/>
              </a:ext>
            </a:extLst>
          </p:cNvPr>
          <p:cNvSpPr txBox="1">
            <a:spLocks noGrp="1"/>
          </p:cNvSpPr>
          <p:nvPr>
            <p:ph type="title"/>
          </p:nvPr>
        </p:nvSpPr>
        <p:spPr>
          <a:xfrm>
            <a:off x="-830450" y="932113"/>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sp>
        <p:nvSpPr>
          <p:cNvPr id="878" name="Google Shape;878;p29">
            <a:extLst>
              <a:ext uri="{FF2B5EF4-FFF2-40B4-BE49-F238E27FC236}">
                <a16:creationId xmlns:a16="http://schemas.microsoft.com/office/drawing/2014/main" id="{8B257C82-AB8A-5769-527D-8438374768A1}"/>
              </a:ext>
            </a:extLst>
          </p:cNvPr>
          <p:cNvSpPr txBox="1">
            <a:spLocks noGrp="1"/>
          </p:cNvSpPr>
          <p:nvPr>
            <p:ph type="body" idx="1"/>
          </p:nvPr>
        </p:nvSpPr>
        <p:spPr>
          <a:xfrm>
            <a:off x="5583114" y="2006870"/>
            <a:ext cx="2392348" cy="2490900"/>
          </a:xfrm>
          <a:prstGeom prst="rect">
            <a:avLst/>
          </a:prstGeom>
        </p:spPr>
        <p:txBody>
          <a:bodyPr spcFirstLastPara="1" wrap="square" lIns="91425" tIns="91425" rIns="91425" bIns="91425" anchor="t" anchorCtr="0">
            <a:noAutofit/>
          </a:bodyPr>
          <a:lstStyle/>
          <a:p>
            <a:pPr marL="25400" lvl="0" indent="0" algn="l" rtl="0">
              <a:spcBef>
                <a:spcPts val="1600"/>
              </a:spcBef>
              <a:spcAft>
                <a:spcPts val="0"/>
              </a:spcAft>
              <a:buSzPts val="1400"/>
              <a:buNone/>
            </a:pPr>
            <a:r>
              <a:rPr lang="en" dirty="0">
                <a:solidFill>
                  <a:schemeClr val="dk1"/>
                </a:solidFill>
              </a:rPr>
              <a:t>We used in the first tMap the routine method to filter the data using a java code which is shown in next slide.</a:t>
            </a:r>
          </a:p>
        </p:txBody>
      </p:sp>
      <p:pic>
        <p:nvPicPr>
          <p:cNvPr id="879" name="Google Shape;879;p29">
            <a:extLst>
              <a:ext uri="{FF2B5EF4-FFF2-40B4-BE49-F238E27FC236}">
                <a16:creationId xmlns:a16="http://schemas.microsoft.com/office/drawing/2014/main" id="{F43B2A6B-E778-9B66-38DF-B9D44F5ABDD9}"/>
              </a:ext>
            </a:extLst>
          </p:cNvPr>
          <p:cNvPicPr preferRelativeResize="0">
            <a:picLocks noGrp="1"/>
          </p:cNvPicPr>
          <p:nvPr>
            <p:ph type="pic" idx="2"/>
          </p:nvPr>
        </p:nvPicPr>
        <p:blipFill>
          <a:blip r:embed="rId3"/>
          <a:srcRect t="463" b="463"/>
          <a:stretch/>
        </p:blipFill>
        <p:spPr>
          <a:xfrm>
            <a:off x="1030175" y="2237463"/>
            <a:ext cx="4384287" cy="2241559"/>
          </a:xfrm>
          <a:prstGeom prst="rect">
            <a:avLst/>
          </a:prstGeom>
        </p:spPr>
      </p:pic>
      <p:sp>
        <p:nvSpPr>
          <p:cNvPr id="2" name="ZoneTexte 1">
            <a:extLst>
              <a:ext uri="{FF2B5EF4-FFF2-40B4-BE49-F238E27FC236}">
                <a16:creationId xmlns:a16="http://schemas.microsoft.com/office/drawing/2014/main" id="{F3EECB1B-4EE9-5482-59A0-6EF0F418572D}"/>
              </a:ext>
            </a:extLst>
          </p:cNvPr>
          <p:cNvSpPr txBox="1"/>
          <p:nvPr/>
        </p:nvSpPr>
        <p:spPr>
          <a:xfrm>
            <a:off x="1114602" y="1785258"/>
            <a:ext cx="889987" cy="307777"/>
          </a:xfrm>
          <a:prstGeom prst="rect">
            <a:avLst/>
          </a:prstGeom>
          <a:noFill/>
        </p:spPr>
        <p:txBody>
          <a:bodyPr wrap="none" rtlCol="0">
            <a:spAutoFit/>
          </a:bodyPr>
          <a:lstStyle/>
          <a:p>
            <a:r>
              <a:rPr lang="fr-FR" dirty="0"/>
              <a:t>Tmap_1:</a:t>
            </a:r>
          </a:p>
        </p:txBody>
      </p:sp>
      <p:pic>
        <p:nvPicPr>
          <p:cNvPr id="4" name="Image 3" descr="Une image contenant texte, Police, capture d’écran, ligne&#10;&#10;Description générée automatiquement">
            <a:extLst>
              <a:ext uri="{FF2B5EF4-FFF2-40B4-BE49-F238E27FC236}">
                <a16:creationId xmlns:a16="http://schemas.microsoft.com/office/drawing/2014/main" id="{738B3EA9-9AF3-0033-CB6D-ECDE66274448}"/>
              </a:ext>
            </a:extLst>
          </p:cNvPr>
          <p:cNvPicPr>
            <a:picLocks noChangeAspect="1"/>
          </p:cNvPicPr>
          <p:nvPr/>
        </p:nvPicPr>
        <p:blipFill>
          <a:blip r:embed="rId4"/>
          <a:stretch>
            <a:fillRect/>
          </a:stretch>
        </p:blipFill>
        <p:spPr>
          <a:xfrm>
            <a:off x="5414462" y="920868"/>
            <a:ext cx="2550854" cy="1086002"/>
          </a:xfrm>
          <a:prstGeom prst="rect">
            <a:avLst/>
          </a:prstGeom>
        </p:spPr>
      </p:pic>
    </p:spTree>
    <p:extLst>
      <p:ext uri="{BB962C8B-B14F-4D97-AF65-F5344CB8AC3E}">
        <p14:creationId xmlns:p14="http://schemas.microsoft.com/office/powerpoint/2010/main" val="531555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D3C18D06-F6A2-D9DA-4162-F9318C8603EC}"/>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869BB706-0807-06BC-07AE-90FBE4A4BE0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grpSp>
        <p:nvGrpSpPr>
          <p:cNvPr id="880" name="Google Shape;880;p29">
            <a:extLst>
              <a:ext uri="{FF2B5EF4-FFF2-40B4-BE49-F238E27FC236}">
                <a16:creationId xmlns:a16="http://schemas.microsoft.com/office/drawing/2014/main" id="{6826203E-09D9-098D-8199-9AB156C0DB3E}"/>
              </a:ext>
            </a:extLst>
          </p:cNvPr>
          <p:cNvGrpSpPr/>
          <p:nvPr/>
        </p:nvGrpSpPr>
        <p:grpSpPr>
          <a:xfrm flipH="1">
            <a:off x="157211" y="941350"/>
            <a:ext cx="1212401" cy="1240945"/>
            <a:chOff x="8264880" y="1119240"/>
            <a:chExt cx="1865520" cy="1909440"/>
          </a:xfrm>
        </p:grpSpPr>
        <p:sp>
          <p:nvSpPr>
            <p:cNvPr id="881" name="Google Shape;881;p29">
              <a:extLst>
                <a:ext uri="{FF2B5EF4-FFF2-40B4-BE49-F238E27FC236}">
                  <a16:creationId xmlns:a16="http://schemas.microsoft.com/office/drawing/2014/main" id="{784FD7B1-216C-617D-071A-B593909CC51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a:extLst>
                <a:ext uri="{FF2B5EF4-FFF2-40B4-BE49-F238E27FC236}">
                  <a16:creationId xmlns:a16="http://schemas.microsoft.com/office/drawing/2014/main" id="{19C3ACB7-7C77-8C8A-B94C-71E4914B5BE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a:extLst>
                <a:ext uri="{FF2B5EF4-FFF2-40B4-BE49-F238E27FC236}">
                  <a16:creationId xmlns:a16="http://schemas.microsoft.com/office/drawing/2014/main" id="{17D38814-F4DA-315B-19B7-971D8CC0B03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a:extLst>
                <a:ext uri="{FF2B5EF4-FFF2-40B4-BE49-F238E27FC236}">
                  <a16:creationId xmlns:a16="http://schemas.microsoft.com/office/drawing/2014/main" id="{688D0645-06C2-1AAC-DB88-4D11A8BB865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a:extLst>
                <a:ext uri="{FF2B5EF4-FFF2-40B4-BE49-F238E27FC236}">
                  <a16:creationId xmlns:a16="http://schemas.microsoft.com/office/drawing/2014/main" id="{58DE2EC6-987F-1D60-D1A7-EEA41913309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6" name="Google Shape;886;p29">
              <a:extLst>
                <a:ext uri="{FF2B5EF4-FFF2-40B4-BE49-F238E27FC236}">
                  <a16:creationId xmlns:a16="http://schemas.microsoft.com/office/drawing/2014/main" id="{C2C3EBEC-85DA-4E83-035D-80A8E9E4EBE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1" name="Image 10">
            <a:extLst>
              <a:ext uri="{FF2B5EF4-FFF2-40B4-BE49-F238E27FC236}">
                <a16:creationId xmlns:a16="http://schemas.microsoft.com/office/drawing/2014/main" id="{B298FC11-74AD-D4C3-4995-A5B5B2683254}"/>
              </a:ext>
            </a:extLst>
          </p:cNvPr>
          <p:cNvPicPr>
            <a:picLocks noChangeAspect="1"/>
          </p:cNvPicPr>
          <p:nvPr/>
        </p:nvPicPr>
        <p:blipFill>
          <a:blip r:embed="rId3"/>
          <a:srcRect/>
          <a:stretch/>
        </p:blipFill>
        <p:spPr>
          <a:xfrm>
            <a:off x="1369612" y="1774964"/>
            <a:ext cx="6065645" cy="2942642"/>
          </a:xfrm>
          <a:prstGeom prst="rect">
            <a:avLst/>
          </a:prstGeom>
        </p:spPr>
      </p:pic>
    </p:spTree>
    <p:extLst>
      <p:ext uri="{BB962C8B-B14F-4D97-AF65-F5344CB8AC3E}">
        <p14:creationId xmlns:p14="http://schemas.microsoft.com/office/powerpoint/2010/main" val="2602915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FE8398F9-B7CD-503F-133E-879966487E27}"/>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941E31C0-FE32-2F84-9042-864D68422B87}"/>
              </a:ext>
            </a:extLst>
          </p:cNvPr>
          <p:cNvSpPr txBox="1">
            <a:spLocks noGrp="1"/>
          </p:cNvSpPr>
          <p:nvPr>
            <p:ph type="title"/>
          </p:nvPr>
        </p:nvSpPr>
        <p:spPr>
          <a:xfrm>
            <a:off x="-830450" y="932113"/>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sp>
        <p:nvSpPr>
          <p:cNvPr id="878" name="Google Shape;878;p29">
            <a:extLst>
              <a:ext uri="{FF2B5EF4-FFF2-40B4-BE49-F238E27FC236}">
                <a16:creationId xmlns:a16="http://schemas.microsoft.com/office/drawing/2014/main" id="{AF50333B-F7AB-A97A-FB48-700BE5B5699E}"/>
              </a:ext>
            </a:extLst>
          </p:cNvPr>
          <p:cNvSpPr txBox="1">
            <a:spLocks noGrp="1"/>
          </p:cNvSpPr>
          <p:nvPr>
            <p:ph type="body" idx="1"/>
          </p:nvPr>
        </p:nvSpPr>
        <p:spPr>
          <a:xfrm>
            <a:off x="6392008" y="2006870"/>
            <a:ext cx="1583454" cy="2490900"/>
          </a:xfrm>
          <a:prstGeom prst="rect">
            <a:avLst/>
          </a:prstGeom>
        </p:spPr>
        <p:txBody>
          <a:bodyPr spcFirstLastPara="1" wrap="square" lIns="91425" tIns="91425" rIns="91425" bIns="91425" anchor="t" anchorCtr="0">
            <a:noAutofit/>
          </a:bodyPr>
          <a:lstStyle/>
          <a:p>
            <a:pPr marL="25400" lvl="0" indent="0" algn="l" rtl="0">
              <a:spcBef>
                <a:spcPts val="1600"/>
              </a:spcBef>
              <a:spcAft>
                <a:spcPts val="0"/>
              </a:spcAft>
              <a:buSzPts val="1400"/>
              <a:buNone/>
            </a:pPr>
            <a:r>
              <a:rPr lang="en" dirty="0">
                <a:solidFill>
                  <a:schemeClr val="dk1"/>
                </a:solidFill>
              </a:rPr>
              <a:t>We used this filter to remove the column “additionnal information”.</a:t>
            </a:r>
          </a:p>
        </p:txBody>
      </p:sp>
      <p:pic>
        <p:nvPicPr>
          <p:cNvPr id="4" name="Image 3">
            <a:extLst>
              <a:ext uri="{FF2B5EF4-FFF2-40B4-BE49-F238E27FC236}">
                <a16:creationId xmlns:a16="http://schemas.microsoft.com/office/drawing/2014/main" id="{D4D7EF3F-B512-C57E-7F9B-EF8C89001199}"/>
              </a:ext>
            </a:extLst>
          </p:cNvPr>
          <p:cNvPicPr>
            <a:picLocks noChangeAspect="1"/>
          </p:cNvPicPr>
          <p:nvPr/>
        </p:nvPicPr>
        <p:blipFill>
          <a:blip r:embed="rId3"/>
          <a:srcRect/>
          <a:stretch/>
        </p:blipFill>
        <p:spPr>
          <a:xfrm>
            <a:off x="6013652" y="915116"/>
            <a:ext cx="2340165" cy="840725"/>
          </a:xfrm>
          <a:prstGeom prst="rect">
            <a:avLst/>
          </a:prstGeom>
        </p:spPr>
      </p:pic>
      <p:pic>
        <p:nvPicPr>
          <p:cNvPr id="7" name="Image 6" descr="Une image contenant texte, capture d’écran, logiciel, nombre&#10;&#10;Description générée automatiquement">
            <a:extLst>
              <a:ext uri="{FF2B5EF4-FFF2-40B4-BE49-F238E27FC236}">
                <a16:creationId xmlns:a16="http://schemas.microsoft.com/office/drawing/2014/main" id="{0280F02B-E315-4857-2D61-1EC8B1AA4BCB}"/>
              </a:ext>
            </a:extLst>
          </p:cNvPr>
          <p:cNvPicPr>
            <a:picLocks noChangeAspect="1"/>
          </p:cNvPicPr>
          <p:nvPr/>
        </p:nvPicPr>
        <p:blipFill>
          <a:blip r:embed="rId4"/>
          <a:stretch>
            <a:fillRect/>
          </a:stretch>
        </p:blipFill>
        <p:spPr>
          <a:xfrm>
            <a:off x="580292" y="2006871"/>
            <a:ext cx="5591907" cy="2855276"/>
          </a:xfrm>
          <a:prstGeom prst="rect">
            <a:avLst/>
          </a:prstGeom>
        </p:spPr>
      </p:pic>
      <p:sp>
        <p:nvSpPr>
          <p:cNvPr id="8" name="ZoneTexte 7">
            <a:extLst>
              <a:ext uri="{FF2B5EF4-FFF2-40B4-BE49-F238E27FC236}">
                <a16:creationId xmlns:a16="http://schemas.microsoft.com/office/drawing/2014/main" id="{7D890F4F-7FB3-047E-09FA-1A8E33F73FEC}"/>
              </a:ext>
            </a:extLst>
          </p:cNvPr>
          <p:cNvSpPr txBox="1"/>
          <p:nvPr/>
        </p:nvSpPr>
        <p:spPr>
          <a:xfrm>
            <a:off x="852854" y="1652511"/>
            <a:ext cx="1587294" cy="307777"/>
          </a:xfrm>
          <a:prstGeom prst="rect">
            <a:avLst/>
          </a:prstGeom>
          <a:noFill/>
        </p:spPr>
        <p:txBody>
          <a:bodyPr wrap="none" rtlCol="0">
            <a:spAutoFit/>
          </a:bodyPr>
          <a:lstStyle/>
          <a:p>
            <a:r>
              <a:rPr lang="fr-FR" dirty="0"/>
              <a:t>tFilterColumns_1:</a:t>
            </a:r>
          </a:p>
        </p:txBody>
      </p:sp>
    </p:spTree>
    <p:extLst>
      <p:ext uri="{BB962C8B-B14F-4D97-AF65-F5344CB8AC3E}">
        <p14:creationId xmlns:p14="http://schemas.microsoft.com/office/powerpoint/2010/main" val="4004112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6906408A-C1A1-5ADB-D8E5-7F231E62CBB2}"/>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5E6B443D-9373-8CE5-6A28-8A5910894258}"/>
              </a:ext>
            </a:extLst>
          </p:cNvPr>
          <p:cNvSpPr txBox="1">
            <a:spLocks noGrp="1"/>
          </p:cNvSpPr>
          <p:nvPr>
            <p:ph type="title"/>
          </p:nvPr>
        </p:nvSpPr>
        <p:spPr>
          <a:xfrm>
            <a:off x="-685865" y="938084"/>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pic>
        <p:nvPicPr>
          <p:cNvPr id="5" name="Image 4" descr="Une image contenant texte, capture d’écran, logiciel, diagramme&#10;&#10;Description générée automatiquement">
            <a:extLst>
              <a:ext uri="{FF2B5EF4-FFF2-40B4-BE49-F238E27FC236}">
                <a16:creationId xmlns:a16="http://schemas.microsoft.com/office/drawing/2014/main" id="{0DAF1C4C-DDCB-5F4B-40F8-3C257902750E}"/>
              </a:ext>
            </a:extLst>
          </p:cNvPr>
          <p:cNvPicPr>
            <a:picLocks noChangeAspect="1"/>
          </p:cNvPicPr>
          <p:nvPr/>
        </p:nvPicPr>
        <p:blipFill>
          <a:blip r:embed="rId3"/>
          <a:stretch>
            <a:fillRect/>
          </a:stretch>
        </p:blipFill>
        <p:spPr>
          <a:xfrm>
            <a:off x="764931" y="2419423"/>
            <a:ext cx="5530361" cy="2187453"/>
          </a:xfrm>
          <a:prstGeom prst="rect">
            <a:avLst/>
          </a:prstGeom>
        </p:spPr>
      </p:pic>
      <p:sp>
        <p:nvSpPr>
          <p:cNvPr id="8" name="ZoneTexte 7">
            <a:extLst>
              <a:ext uri="{FF2B5EF4-FFF2-40B4-BE49-F238E27FC236}">
                <a16:creationId xmlns:a16="http://schemas.microsoft.com/office/drawing/2014/main" id="{EE1C1877-4ABF-E673-2DE0-DEA08CEBF315}"/>
              </a:ext>
            </a:extLst>
          </p:cNvPr>
          <p:cNvSpPr txBox="1"/>
          <p:nvPr/>
        </p:nvSpPr>
        <p:spPr>
          <a:xfrm>
            <a:off x="896750" y="1811215"/>
            <a:ext cx="880369" cy="307777"/>
          </a:xfrm>
          <a:prstGeom prst="rect">
            <a:avLst/>
          </a:prstGeom>
          <a:noFill/>
        </p:spPr>
        <p:txBody>
          <a:bodyPr wrap="none" rtlCol="0">
            <a:spAutoFit/>
          </a:bodyPr>
          <a:lstStyle/>
          <a:p>
            <a:r>
              <a:rPr lang="fr-FR" dirty="0"/>
              <a:t>tMap_2 :</a:t>
            </a:r>
          </a:p>
        </p:txBody>
      </p:sp>
      <p:pic>
        <p:nvPicPr>
          <p:cNvPr id="10" name="Image 9" descr="Une image contenant texte, Police, capture d’écran, ligne&#10;&#10;Description générée automatiquement">
            <a:extLst>
              <a:ext uri="{FF2B5EF4-FFF2-40B4-BE49-F238E27FC236}">
                <a16:creationId xmlns:a16="http://schemas.microsoft.com/office/drawing/2014/main" id="{E827E953-D9E7-62B3-8F32-705C75814871}"/>
              </a:ext>
            </a:extLst>
          </p:cNvPr>
          <p:cNvPicPr>
            <a:picLocks noChangeAspect="1"/>
          </p:cNvPicPr>
          <p:nvPr/>
        </p:nvPicPr>
        <p:blipFill>
          <a:blip r:embed="rId4"/>
          <a:stretch>
            <a:fillRect/>
          </a:stretch>
        </p:blipFill>
        <p:spPr>
          <a:xfrm>
            <a:off x="6064190" y="808032"/>
            <a:ext cx="2051941" cy="1405504"/>
          </a:xfrm>
          <a:prstGeom prst="rect">
            <a:avLst/>
          </a:prstGeom>
        </p:spPr>
      </p:pic>
      <p:sp>
        <p:nvSpPr>
          <p:cNvPr id="11" name="ZoneTexte 10">
            <a:extLst>
              <a:ext uri="{FF2B5EF4-FFF2-40B4-BE49-F238E27FC236}">
                <a16:creationId xmlns:a16="http://schemas.microsoft.com/office/drawing/2014/main" id="{695F8881-1193-FF6D-E0D3-8B142B6B3B2A}"/>
              </a:ext>
            </a:extLst>
          </p:cNvPr>
          <p:cNvSpPr txBox="1"/>
          <p:nvPr/>
        </p:nvSpPr>
        <p:spPr>
          <a:xfrm>
            <a:off x="6374423" y="2791558"/>
            <a:ext cx="2343911" cy="954107"/>
          </a:xfrm>
          <a:prstGeom prst="rect">
            <a:avLst/>
          </a:prstGeom>
          <a:noFill/>
        </p:spPr>
        <p:txBody>
          <a:bodyPr wrap="none" rtlCol="0">
            <a:spAutoFit/>
          </a:bodyPr>
          <a:lstStyle/>
          <a:p>
            <a:r>
              <a:rPr lang="fr-FR" dirty="0"/>
              <a:t>We used this tMap to </a:t>
            </a:r>
          </a:p>
          <a:p>
            <a:r>
              <a:rPr lang="fr-FR" dirty="0"/>
              <a:t>devide the dataset </a:t>
            </a:r>
          </a:p>
          <a:p>
            <a:r>
              <a:rPr lang="fr-FR" dirty="0"/>
              <a:t>columns into dimensions </a:t>
            </a:r>
          </a:p>
          <a:p>
            <a:r>
              <a:rPr lang="fr-FR" dirty="0"/>
              <a:t>Columns and fact columns.</a:t>
            </a:r>
          </a:p>
        </p:txBody>
      </p:sp>
    </p:spTree>
    <p:extLst>
      <p:ext uri="{BB962C8B-B14F-4D97-AF65-F5344CB8AC3E}">
        <p14:creationId xmlns:p14="http://schemas.microsoft.com/office/powerpoint/2010/main" val="2746859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AB4AD825-53D5-C34C-C596-B3CE19761EBE}"/>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24DE0598-11B2-5C7F-C13C-505DBFBCF530}"/>
              </a:ext>
            </a:extLst>
          </p:cNvPr>
          <p:cNvSpPr txBox="1">
            <a:spLocks noGrp="1"/>
          </p:cNvSpPr>
          <p:nvPr>
            <p:ph type="title"/>
          </p:nvPr>
        </p:nvSpPr>
        <p:spPr>
          <a:xfrm>
            <a:off x="-8792" y="1026007"/>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sp>
        <p:nvSpPr>
          <p:cNvPr id="8" name="ZoneTexte 7">
            <a:extLst>
              <a:ext uri="{FF2B5EF4-FFF2-40B4-BE49-F238E27FC236}">
                <a16:creationId xmlns:a16="http://schemas.microsoft.com/office/drawing/2014/main" id="{30C7CF7B-6896-D645-E20F-1CB7469773CE}"/>
              </a:ext>
            </a:extLst>
          </p:cNvPr>
          <p:cNvSpPr txBox="1"/>
          <p:nvPr/>
        </p:nvSpPr>
        <p:spPr>
          <a:xfrm>
            <a:off x="896750" y="1811215"/>
            <a:ext cx="880369" cy="307777"/>
          </a:xfrm>
          <a:prstGeom prst="rect">
            <a:avLst/>
          </a:prstGeom>
          <a:noFill/>
        </p:spPr>
        <p:txBody>
          <a:bodyPr wrap="none" rtlCol="0">
            <a:spAutoFit/>
          </a:bodyPr>
          <a:lstStyle/>
          <a:p>
            <a:r>
              <a:rPr lang="fr-FR" dirty="0"/>
              <a:t>tMap_3 :</a:t>
            </a:r>
          </a:p>
        </p:txBody>
      </p:sp>
      <p:pic>
        <p:nvPicPr>
          <p:cNvPr id="3" name="Image 2" descr="Une image contenant capture d’écran, texte, logiciel, Icône d’ordinateur&#10;&#10;Description générée automatiquement">
            <a:extLst>
              <a:ext uri="{FF2B5EF4-FFF2-40B4-BE49-F238E27FC236}">
                <a16:creationId xmlns:a16="http://schemas.microsoft.com/office/drawing/2014/main" id="{A1A30EFA-0536-5D9D-4A8E-6BF0B4020F70}"/>
              </a:ext>
            </a:extLst>
          </p:cNvPr>
          <p:cNvPicPr>
            <a:picLocks noChangeAspect="1"/>
          </p:cNvPicPr>
          <p:nvPr/>
        </p:nvPicPr>
        <p:blipFill>
          <a:blip r:embed="rId3"/>
          <a:stretch>
            <a:fillRect/>
          </a:stretch>
        </p:blipFill>
        <p:spPr>
          <a:xfrm>
            <a:off x="597877" y="2213536"/>
            <a:ext cx="5486400" cy="2560687"/>
          </a:xfrm>
          <a:prstGeom prst="rect">
            <a:avLst/>
          </a:prstGeom>
        </p:spPr>
      </p:pic>
      <p:sp>
        <p:nvSpPr>
          <p:cNvPr id="4" name="ZoneTexte 3">
            <a:extLst>
              <a:ext uri="{FF2B5EF4-FFF2-40B4-BE49-F238E27FC236}">
                <a16:creationId xmlns:a16="http://schemas.microsoft.com/office/drawing/2014/main" id="{48042C3B-4627-C5B8-60B2-680290B0CE31}"/>
              </a:ext>
            </a:extLst>
          </p:cNvPr>
          <p:cNvSpPr txBox="1"/>
          <p:nvPr/>
        </p:nvSpPr>
        <p:spPr>
          <a:xfrm>
            <a:off x="6348046" y="2894053"/>
            <a:ext cx="2133918" cy="738664"/>
          </a:xfrm>
          <a:prstGeom prst="rect">
            <a:avLst/>
          </a:prstGeom>
          <a:noFill/>
        </p:spPr>
        <p:txBody>
          <a:bodyPr wrap="none" rtlCol="0">
            <a:spAutoFit/>
          </a:bodyPr>
          <a:lstStyle/>
          <a:p>
            <a:r>
              <a:rPr lang="fr-FR" dirty="0"/>
              <a:t>We applied this tMap </a:t>
            </a:r>
          </a:p>
          <a:p>
            <a:r>
              <a:rPr lang="fr-FR" dirty="0"/>
              <a:t>to identify the fact name </a:t>
            </a:r>
          </a:p>
          <a:p>
            <a:r>
              <a:rPr lang="fr-FR" dirty="0"/>
              <a:t>As « Prix ».</a:t>
            </a:r>
          </a:p>
        </p:txBody>
      </p:sp>
    </p:spTree>
    <p:extLst>
      <p:ext uri="{BB962C8B-B14F-4D97-AF65-F5344CB8AC3E}">
        <p14:creationId xmlns:p14="http://schemas.microsoft.com/office/powerpoint/2010/main" val="1532398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FE6B5DB8-F3BF-1CA2-4558-F79F20C46B48}"/>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A711A4B9-BEA4-8113-5130-2019438F7108}"/>
              </a:ext>
            </a:extLst>
          </p:cNvPr>
          <p:cNvSpPr txBox="1">
            <a:spLocks noGrp="1"/>
          </p:cNvSpPr>
          <p:nvPr>
            <p:ph type="title"/>
          </p:nvPr>
        </p:nvSpPr>
        <p:spPr>
          <a:xfrm>
            <a:off x="-8792" y="1026007"/>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Talend</a:t>
            </a:r>
            <a:endParaRPr dirty="0"/>
          </a:p>
        </p:txBody>
      </p:sp>
      <p:sp>
        <p:nvSpPr>
          <p:cNvPr id="8" name="ZoneTexte 7">
            <a:extLst>
              <a:ext uri="{FF2B5EF4-FFF2-40B4-BE49-F238E27FC236}">
                <a16:creationId xmlns:a16="http://schemas.microsoft.com/office/drawing/2014/main" id="{317BB695-1954-C1C5-0A5D-89119137FA21}"/>
              </a:ext>
            </a:extLst>
          </p:cNvPr>
          <p:cNvSpPr txBox="1"/>
          <p:nvPr/>
        </p:nvSpPr>
        <p:spPr>
          <a:xfrm>
            <a:off x="896750" y="1811215"/>
            <a:ext cx="880369" cy="307777"/>
          </a:xfrm>
          <a:prstGeom prst="rect">
            <a:avLst/>
          </a:prstGeom>
          <a:noFill/>
        </p:spPr>
        <p:txBody>
          <a:bodyPr wrap="none" rtlCol="0">
            <a:spAutoFit/>
          </a:bodyPr>
          <a:lstStyle/>
          <a:p>
            <a:r>
              <a:rPr lang="fr-FR" dirty="0"/>
              <a:t>tMap_4 :</a:t>
            </a:r>
          </a:p>
        </p:txBody>
      </p:sp>
      <p:sp>
        <p:nvSpPr>
          <p:cNvPr id="4" name="ZoneTexte 3">
            <a:extLst>
              <a:ext uri="{FF2B5EF4-FFF2-40B4-BE49-F238E27FC236}">
                <a16:creationId xmlns:a16="http://schemas.microsoft.com/office/drawing/2014/main" id="{FE938219-A79D-CC3E-8686-25AF73515F5D}"/>
              </a:ext>
            </a:extLst>
          </p:cNvPr>
          <p:cNvSpPr txBox="1"/>
          <p:nvPr/>
        </p:nvSpPr>
        <p:spPr>
          <a:xfrm>
            <a:off x="6178882" y="2876636"/>
            <a:ext cx="2441694" cy="738664"/>
          </a:xfrm>
          <a:prstGeom prst="rect">
            <a:avLst/>
          </a:prstGeom>
          <a:noFill/>
        </p:spPr>
        <p:txBody>
          <a:bodyPr wrap="none" rtlCol="0">
            <a:spAutoFit/>
          </a:bodyPr>
          <a:lstStyle/>
          <a:p>
            <a:r>
              <a:rPr lang="fr-FR" dirty="0"/>
              <a:t>This tMap create the </a:t>
            </a:r>
          </a:p>
          <a:p>
            <a:r>
              <a:rPr lang="fr-FR" dirty="0"/>
              <a:t>dimensions tables adding </a:t>
            </a:r>
          </a:p>
          <a:p>
            <a:r>
              <a:rPr lang="fr-FR" dirty="0"/>
              <a:t>the primary key to each one.</a:t>
            </a:r>
          </a:p>
        </p:txBody>
      </p:sp>
      <p:pic>
        <p:nvPicPr>
          <p:cNvPr id="5" name="Image 4" descr="Une image contenant capture d’écran, texte, logiciel, Icône d’ordinateur&#10;&#10;Description générée automatiquement">
            <a:extLst>
              <a:ext uri="{FF2B5EF4-FFF2-40B4-BE49-F238E27FC236}">
                <a16:creationId xmlns:a16="http://schemas.microsoft.com/office/drawing/2014/main" id="{3214EA5F-0C82-2CE9-B944-32A9D5D52EF1}"/>
              </a:ext>
            </a:extLst>
          </p:cNvPr>
          <p:cNvPicPr>
            <a:picLocks noChangeAspect="1"/>
          </p:cNvPicPr>
          <p:nvPr/>
        </p:nvPicPr>
        <p:blipFill>
          <a:blip r:embed="rId3"/>
          <a:stretch>
            <a:fillRect/>
          </a:stretch>
        </p:blipFill>
        <p:spPr>
          <a:xfrm>
            <a:off x="513806" y="2185851"/>
            <a:ext cx="5625737" cy="2569844"/>
          </a:xfrm>
          <a:prstGeom prst="rect">
            <a:avLst/>
          </a:prstGeom>
        </p:spPr>
      </p:pic>
    </p:spTree>
    <p:extLst>
      <p:ext uri="{BB962C8B-B14F-4D97-AF65-F5344CB8AC3E}">
        <p14:creationId xmlns:p14="http://schemas.microsoft.com/office/powerpoint/2010/main" val="2647634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39387CE2-DBCE-B655-0FE4-7911AFE72DFD}"/>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1595C92D-0819-1EA8-F3DE-696DA6D2E93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Python</a:t>
            </a:r>
            <a:endParaRPr dirty="0"/>
          </a:p>
        </p:txBody>
      </p:sp>
      <p:pic>
        <p:nvPicPr>
          <p:cNvPr id="3" name="Image 2" descr="Une image contenant texte, capture d’écran, Police&#10;&#10;Description générée automatiquement">
            <a:extLst>
              <a:ext uri="{FF2B5EF4-FFF2-40B4-BE49-F238E27FC236}">
                <a16:creationId xmlns:a16="http://schemas.microsoft.com/office/drawing/2014/main" id="{2AF19462-6F1E-51B7-474C-47AFA2E6242B}"/>
              </a:ext>
            </a:extLst>
          </p:cNvPr>
          <p:cNvPicPr>
            <a:picLocks noChangeAspect="1"/>
          </p:cNvPicPr>
          <p:nvPr/>
        </p:nvPicPr>
        <p:blipFill>
          <a:blip r:embed="rId3"/>
          <a:stretch>
            <a:fillRect/>
          </a:stretch>
        </p:blipFill>
        <p:spPr>
          <a:xfrm>
            <a:off x="1345516" y="1798125"/>
            <a:ext cx="4044170" cy="2901297"/>
          </a:xfrm>
          <a:prstGeom prst="rect">
            <a:avLst/>
          </a:prstGeom>
        </p:spPr>
      </p:pic>
      <p:sp>
        <p:nvSpPr>
          <p:cNvPr id="4" name="ZoneTexte 3">
            <a:extLst>
              <a:ext uri="{FF2B5EF4-FFF2-40B4-BE49-F238E27FC236}">
                <a16:creationId xmlns:a16="http://schemas.microsoft.com/office/drawing/2014/main" id="{0BE83FE0-08E3-20EE-6DE3-4A0F34F4D672}"/>
              </a:ext>
            </a:extLst>
          </p:cNvPr>
          <p:cNvSpPr txBox="1"/>
          <p:nvPr/>
        </p:nvSpPr>
        <p:spPr>
          <a:xfrm>
            <a:off x="5665384" y="2005067"/>
            <a:ext cx="2852063" cy="738664"/>
          </a:xfrm>
          <a:prstGeom prst="rect">
            <a:avLst/>
          </a:prstGeom>
          <a:noFill/>
        </p:spPr>
        <p:txBody>
          <a:bodyPr wrap="none" rtlCol="0">
            <a:spAutoFit/>
          </a:bodyPr>
          <a:lstStyle/>
          <a:p>
            <a:r>
              <a:rPr lang="fr-FR" dirty="0"/>
              <a:t>We used this python code to </a:t>
            </a:r>
          </a:p>
          <a:p>
            <a:r>
              <a:rPr lang="fr-FR" dirty="0"/>
              <a:t>filter any </a:t>
            </a:r>
            <a:r>
              <a:rPr lang="en-US" dirty="0"/>
              <a:t>rows containing illogical</a:t>
            </a:r>
          </a:p>
          <a:p>
            <a:r>
              <a:rPr lang="en-US" dirty="0"/>
              <a:t>or invalid values.</a:t>
            </a:r>
            <a:endParaRPr lang="fr-FR" dirty="0"/>
          </a:p>
        </p:txBody>
      </p:sp>
    </p:spTree>
    <p:extLst>
      <p:ext uri="{BB962C8B-B14F-4D97-AF65-F5344CB8AC3E}">
        <p14:creationId xmlns:p14="http://schemas.microsoft.com/office/powerpoint/2010/main" val="780235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3A7CDCFD-3951-BC9C-571F-1F243B0EFF25}"/>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1028F785-E8E6-C50D-CD12-218FAABE67F5}"/>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Python</a:t>
            </a:r>
            <a:endParaRPr dirty="0"/>
          </a:p>
        </p:txBody>
      </p:sp>
      <p:sp>
        <p:nvSpPr>
          <p:cNvPr id="4" name="ZoneTexte 3">
            <a:extLst>
              <a:ext uri="{FF2B5EF4-FFF2-40B4-BE49-F238E27FC236}">
                <a16:creationId xmlns:a16="http://schemas.microsoft.com/office/drawing/2014/main" id="{CD966C55-52B2-2B50-7FDF-74F1F497935F}"/>
              </a:ext>
            </a:extLst>
          </p:cNvPr>
          <p:cNvSpPr txBox="1"/>
          <p:nvPr/>
        </p:nvSpPr>
        <p:spPr>
          <a:xfrm>
            <a:off x="5665384" y="2005067"/>
            <a:ext cx="1677062" cy="523220"/>
          </a:xfrm>
          <a:prstGeom prst="rect">
            <a:avLst/>
          </a:prstGeom>
          <a:noFill/>
        </p:spPr>
        <p:txBody>
          <a:bodyPr wrap="none" rtlCol="0">
            <a:spAutoFit/>
          </a:bodyPr>
          <a:lstStyle/>
          <a:p>
            <a:r>
              <a:rPr lang="fr-FR" dirty="0"/>
              <a:t>We connect to the </a:t>
            </a:r>
          </a:p>
          <a:p>
            <a:r>
              <a:rPr lang="fr-FR" dirty="0"/>
              <a:t>SQL server .</a:t>
            </a:r>
          </a:p>
        </p:txBody>
      </p:sp>
      <p:pic>
        <p:nvPicPr>
          <p:cNvPr id="5" name="Image 4" descr="Une image contenant texte, capture d’écran, Police&#10;&#10;Description générée automatiquement">
            <a:extLst>
              <a:ext uri="{FF2B5EF4-FFF2-40B4-BE49-F238E27FC236}">
                <a16:creationId xmlns:a16="http://schemas.microsoft.com/office/drawing/2014/main" id="{6802B6AA-A12B-6B3E-DC06-B77379B21518}"/>
              </a:ext>
            </a:extLst>
          </p:cNvPr>
          <p:cNvPicPr>
            <a:picLocks noChangeAspect="1"/>
          </p:cNvPicPr>
          <p:nvPr/>
        </p:nvPicPr>
        <p:blipFill>
          <a:blip r:embed="rId3"/>
          <a:stretch>
            <a:fillRect/>
          </a:stretch>
        </p:blipFill>
        <p:spPr>
          <a:xfrm>
            <a:off x="947541" y="1996286"/>
            <a:ext cx="4232763" cy="2347125"/>
          </a:xfrm>
          <a:prstGeom prst="rect">
            <a:avLst/>
          </a:prstGeom>
        </p:spPr>
      </p:pic>
    </p:spTree>
    <p:extLst>
      <p:ext uri="{BB962C8B-B14F-4D97-AF65-F5344CB8AC3E}">
        <p14:creationId xmlns:p14="http://schemas.microsoft.com/office/powerpoint/2010/main" val="2340824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97C19CA2-1806-CFF0-65AC-2B3164A2A49F}"/>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E87BFA13-50C7-D6BD-7C10-9CF27E281D7C}"/>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Python</a:t>
            </a:r>
            <a:endParaRPr dirty="0"/>
          </a:p>
        </p:txBody>
      </p:sp>
      <p:sp>
        <p:nvSpPr>
          <p:cNvPr id="4" name="ZoneTexte 3">
            <a:extLst>
              <a:ext uri="{FF2B5EF4-FFF2-40B4-BE49-F238E27FC236}">
                <a16:creationId xmlns:a16="http://schemas.microsoft.com/office/drawing/2014/main" id="{6F252C9E-FB77-623E-A07F-91042BEEBCA3}"/>
              </a:ext>
            </a:extLst>
          </p:cNvPr>
          <p:cNvSpPr txBox="1"/>
          <p:nvPr/>
        </p:nvSpPr>
        <p:spPr>
          <a:xfrm>
            <a:off x="6128238" y="2005067"/>
            <a:ext cx="2219291" cy="738664"/>
          </a:xfrm>
          <a:prstGeom prst="rect">
            <a:avLst/>
          </a:prstGeom>
          <a:noFill/>
        </p:spPr>
        <p:txBody>
          <a:bodyPr wrap="square" rtlCol="0">
            <a:spAutoFit/>
          </a:bodyPr>
          <a:lstStyle/>
          <a:p>
            <a:r>
              <a:rPr lang="fr-FR" dirty="0"/>
              <a:t>This code create the dimensions in the database .</a:t>
            </a:r>
          </a:p>
        </p:txBody>
      </p:sp>
      <p:pic>
        <p:nvPicPr>
          <p:cNvPr id="3" name="Image 2" descr="Une image contenant texte, capture d’écran, Police&#10;&#10;Description générée automatiquement">
            <a:extLst>
              <a:ext uri="{FF2B5EF4-FFF2-40B4-BE49-F238E27FC236}">
                <a16:creationId xmlns:a16="http://schemas.microsoft.com/office/drawing/2014/main" id="{ADFC3913-07B4-4025-EBF1-2088997B28EE}"/>
              </a:ext>
            </a:extLst>
          </p:cNvPr>
          <p:cNvPicPr>
            <a:picLocks noChangeAspect="1"/>
          </p:cNvPicPr>
          <p:nvPr/>
        </p:nvPicPr>
        <p:blipFill>
          <a:blip r:embed="rId3"/>
          <a:stretch>
            <a:fillRect/>
          </a:stretch>
        </p:blipFill>
        <p:spPr>
          <a:xfrm>
            <a:off x="697667" y="1827840"/>
            <a:ext cx="5267494" cy="2892097"/>
          </a:xfrm>
          <a:prstGeom prst="rect">
            <a:avLst/>
          </a:prstGeom>
        </p:spPr>
      </p:pic>
    </p:spTree>
    <p:extLst>
      <p:ext uri="{BB962C8B-B14F-4D97-AF65-F5344CB8AC3E}">
        <p14:creationId xmlns:p14="http://schemas.microsoft.com/office/powerpoint/2010/main" val="4097673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8BD4E429-E296-608D-F642-8CA9F06E2A5D}"/>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A8D190DE-C686-B1EC-853B-6752D171091C}"/>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Transforme in Python</a:t>
            </a:r>
            <a:endParaRPr dirty="0"/>
          </a:p>
        </p:txBody>
      </p:sp>
      <p:sp>
        <p:nvSpPr>
          <p:cNvPr id="4" name="ZoneTexte 3">
            <a:extLst>
              <a:ext uri="{FF2B5EF4-FFF2-40B4-BE49-F238E27FC236}">
                <a16:creationId xmlns:a16="http://schemas.microsoft.com/office/drawing/2014/main" id="{6D4DB4D9-4365-5274-0FC0-C369213B3A88}"/>
              </a:ext>
            </a:extLst>
          </p:cNvPr>
          <p:cNvSpPr txBox="1"/>
          <p:nvPr/>
        </p:nvSpPr>
        <p:spPr>
          <a:xfrm>
            <a:off x="5776546" y="2005067"/>
            <a:ext cx="2570983" cy="523220"/>
          </a:xfrm>
          <a:prstGeom prst="rect">
            <a:avLst/>
          </a:prstGeom>
          <a:noFill/>
        </p:spPr>
        <p:txBody>
          <a:bodyPr wrap="square" rtlCol="0">
            <a:spAutoFit/>
          </a:bodyPr>
          <a:lstStyle/>
          <a:p>
            <a:r>
              <a:rPr lang="fr-FR" dirty="0"/>
              <a:t>This one create the fact in the database .</a:t>
            </a:r>
          </a:p>
        </p:txBody>
      </p:sp>
      <p:pic>
        <p:nvPicPr>
          <p:cNvPr id="5" name="Image 4" descr="Une image contenant texte, capture d’écran, Police&#10;&#10;Description générée automatiquement">
            <a:extLst>
              <a:ext uri="{FF2B5EF4-FFF2-40B4-BE49-F238E27FC236}">
                <a16:creationId xmlns:a16="http://schemas.microsoft.com/office/drawing/2014/main" id="{A55A3145-F764-FEF9-2D5D-01A2E11114CA}"/>
              </a:ext>
            </a:extLst>
          </p:cNvPr>
          <p:cNvPicPr>
            <a:picLocks noChangeAspect="1"/>
          </p:cNvPicPr>
          <p:nvPr/>
        </p:nvPicPr>
        <p:blipFill>
          <a:blip r:embed="rId3"/>
          <a:stretch>
            <a:fillRect/>
          </a:stretch>
        </p:blipFill>
        <p:spPr>
          <a:xfrm>
            <a:off x="796471" y="1890345"/>
            <a:ext cx="4426160" cy="2479431"/>
          </a:xfrm>
          <a:prstGeom prst="rect">
            <a:avLst/>
          </a:prstGeom>
        </p:spPr>
      </p:pic>
    </p:spTree>
    <p:extLst>
      <p:ext uri="{BB962C8B-B14F-4D97-AF65-F5344CB8AC3E}">
        <p14:creationId xmlns:p14="http://schemas.microsoft.com/office/powerpoint/2010/main" val="2155096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F2DD09F9-B323-34C4-3D75-57893F263090}"/>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7CE77793-360B-CD1D-F63D-ED15C291EAA5}"/>
              </a:ext>
            </a:extLst>
          </p:cNvPr>
          <p:cNvSpPr txBox="1">
            <a:spLocks noGrp="1"/>
          </p:cNvSpPr>
          <p:nvPr>
            <p:ph type="title"/>
          </p:nvPr>
        </p:nvSpPr>
        <p:spPr>
          <a:xfrm>
            <a:off x="663404" y="894122"/>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Load in python</a:t>
            </a:r>
            <a:endParaRPr dirty="0"/>
          </a:p>
        </p:txBody>
      </p:sp>
      <p:sp>
        <p:nvSpPr>
          <p:cNvPr id="4" name="ZoneTexte 3">
            <a:extLst>
              <a:ext uri="{FF2B5EF4-FFF2-40B4-BE49-F238E27FC236}">
                <a16:creationId xmlns:a16="http://schemas.microsoft.com/office/drawing/2014/main" id="{73D3BB0A-A15B-AF18-0E7B-423B05D6F075}"/>
              </a:ext>
            </a:extLst>
          </p:cNvPr>
          <p:cNvSpPr txBox="1"/>
          <p:nvPr/>
        </p:nvSpPr>
        <p:spPr>
          <a:xfrm>
            <a:off x="5671038" y="2454593"/>
            <a:ext cx="2601576" cy="523220"/>
          </a:xfrm>
          <a:prstGeom prst="rect">
            <a:avLst/>
          </a:prstGeom>
          <a:noFill/>
        </p:spPr>
        <p:txBody>
          <a:bodyPr wrap="square" rtlCol="0">
            <a:spAutoFit/>
          </a:bodyPr>
          <a:lstStyle/>
          <a:p>
            <a:r>
              <a:rPr lang="fr-FR" dirty="0"/>
              <a:t>Then we used this code to insert data into the database .</a:t>
            </a:r>
          </a:p>
        </p:txBody>
      </p:sp>
      <p:pic>
        <p:nvPicPr>
          <p:cNvPr id="3" name="Image 2" descr="Une image contenant texte, capture d’écran, logiciel&#10;&#10;Description générée automatiquement">
            <a:extLst>
              <a:ext uri="{FF2B5EF4-FFF2-40B4-BE49-F238E27FC236}">
                <a16:creationId xmlns:a16="http://schemas.microsoft.com/office/drawing/2014/main" id="{FBDD9B3D-059D-F92F-292D-AD6578000594}"/>
              </a:ext>
            </a:extLst>
          </p:cNvPr>
          <p:cNvPicPr>
            <a:picLocks noChangeAspect="1"/>
          </p:cNvPicPr>
          <p:nvPr/>
        </p:nvPicPr>
        <p:blipFill>
          <a:blip r:embed="rId3"/>
          <a:stretch>
            <a:fillRect/>
          </a:stretch>
        </p:blipFill>
        <p:spPr>
          <a:xfrm>
            <a:off x="663404" y="1616292"/>
            <a:ext cx="4694145" cy="3200876"/>
          </a:xfrm>
          <a:prstGeom prst="rect">
            <a:avLst/>
          </a:prstGeom>
        </p:spPr>
      </p:pic>
    </p:spTree>
    <p:extLst>
      <p:ext uri="{BB962C8B-B14F-4D97-AF65-F5344CB8AC3E}">
        <p14:creationId xmlns:p14="http://schemas.microsoft.com/office/powerpoint/2010/main" val="82364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85CCBEE3-64B1-8CBD-5A61-ECC8E4D82569}"/>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64184CFA-DCAD-C2BA-60DD-0D4E35C1CD7C}"/>
              </a:ext>
            </a:extLst>
          </p:cNvPr>
          <p:cNvSpPr txBox="1">
            <a:spLocks noGrp="1"/>
          </p:cNvSpPr>
          <p:nvPr>
            <p:ph type="title"/>
          </p:nvPr>
        </p:nvSpPr>
        <p:spPr>
          <a:xfrm>
            <a:off x="663404" y="1043592"/>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Load in Talend</a:t>
            </a:r>
            <a:endParaRPr dirty="0"/>
          </a:p>
        </p:txBody>
      </p:sp>
      <p:sp>
        <p:nvSpPr>
          <p:cNvPr id="4" name="ZoneTexte 3">
            <a:extLst>
              <a:ext uri="{FF2B5EF4-FFF2-40B4-BE49-F238E27FC236}">
                <a16:creationId xmlns:a16="http://schemas.microsoft.com/office/drawing/2014/main" id="{C746CBD8-9FC2-9912-2AD0-6021A40643B7}"/>
              </a:ext>
            </a:extLst>
          </p:cNvPr>
          <p:cNvSpPr txBox="1"/>
          <p:nvPr/>
        </p:nvSpPr>
        <p:spPr>
          <a:xfrm>
            <a:off x="4804998" y="2454593"/>
            <a:ext cx="3288080" cy="523220"/>
          </a:xfrm>
          <a:prstGeom prst="rect">
            <a:avLst/>
          </a:prstGeom>
          <a:noFill/>
        </p:spPr>
        <p:txBody>
          <a:bodyPr wrap="none" rtlCol="0">
            <a:spAutoFit/>
          </a:bodyPr>
          <a:lstStyle/>
          <a:p>
            <a:r>
              <a:rPr lang="fr-FR"/>
              <a:t>We load </a:t>
            </a:r>
            <a:r>
              <a:rPr lang="fr-FR" dirty="0"/>
              <a:t>the dimensions and fact into </a:t>
            </a:r>
          </a:p>
          <a:p>
            <a:r>
              <a:rPr lang="fr-FR" dirty="0"/>
              <a:t>5 tables in a database in Mysql server .</a:t>
            </a:r>
          </a:p>
        </p:txBody>
      </p:sp>
      <p:pic>
        <p:nvPicPr>
          <p:cNvPr id="7" name="Image 6" descr="Une image contenant texte, diagramme, capture d’écran, ligne&#10;&#10;Description générée automatiquement">
            <a:extLst>
              <a:ext uri="{FF2B5EF4-FFF2-40B4-BE49-F238E27FC236}">
                <a16:creationId xmlns:a16="http://schemas.microsoft.com/office/drawing/2014/main" id="{672E7452-CBE2-0BC3-BD09-940FACB497B6}"/>
              </a:ext>
            </a:extLst>
          </p:cNvPr>
          <p:cNvPicPr>
            <a:picLocks noChangeAspect="1"/>
          </p:cNvPicPr>
          <p:nvPr/>
        </p:nvPicPr>
        <p:blipFill>
          <a:blip r:embed="rId3"/>
          <a:srcRect l="64546"/>
          <a:stretch/>
        </p:blipFill>
        <p:spPr>
          <a:xfrm>
            <a:off x="1252905" y="1951892"/>
            <a:ext cx="3086099" cy="2734408"/>
          </a:xfrm>
          <a:prstGeom prst="rect">
            <a:avLst/>
          </a:prstGeom>
        </p:spPr>
      </p:pic>
    </p:spTree>
    <p:extLst>
      <p:ext uri="{BB962C8B-B14F-4D97-AF65-F5344CB8AC3E}">
        <p14:creationId xmlns:p14="http://schemas.microsoft.com/office/powerpoint/2010/main" val="1138768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ED998DE6-A85E-DE08-9713-F98EF56F9E7E}"/>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29B0D473-8C0F-1C2D-B3CD-983348ABD41C}"/>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The final model</a:t>
            </a:r>
            <a:endParaRPr dirty="0"/>
          </a:p>
        </p:txBody>
      </p:sp>
      <p:pic>
        <p:nvPicPr>
          <p:cNvPr id="3" name="Image 2" descr="Une image contenant texte, diagramme, capture d’écran, ligne&#10;&#10;Description générée automatiquement">
            <a:extLst>
              <a:ext uri="{FF2B5EF4-FFF2-40B4-BE49-F238E27FC236}">
                <a16:creationId xmlns:a16="http://schemas.microsoft.com/office/drawing/2014/main" id="{9318EA16-F701-8970-2847-F6835ACCD57C}"/>
              </a:ext>
            </a:extLst>
          </p:cNvPr>
          <p:cNvPicPr>
            <a:picLocks noChangeAspect="1"/>
          </p:cNvPicPr>
          <p:nvPr/>
        </p:nvPicPr>
        <p:blipFill>
          <a:blip r:embed="rId3"/>
          <a:stretch>
            <a:fillRect/>
          </a:stretch>
        </p:blipFill>
        <p:spPr>
          <a:xfrm>
            <a:off x="745864" y="1592676"/>
            <a:ext cx="7641998" cy="3128794"/>
          </a:xfrm>
          <a:prstGeom prst="rect">
            <a:avLst/>
          </a:prstGeom>
        </p:spPr>
      </p:pic>
      <p:grpSp>
        <p:nvGrpSpPr>
          <p:cNvPr id="880" name="Google Shape;880;p29">
            <a:extLst>
              <a:ext uri="{FF2B5EF4-FFF2-40B4-BE49-F238E27FC236}">
                <a16:creationId xmlns:a16="http://schemas.microsoft.com/office/drawing/2014/main" id="{61B898CA-5630-3F82-880C-8064C2AAA52F}"/>
              </a:ext>
            </a:extLst>
          </p:cNvPr>
          <p:cNvGrpSpPr/>
          <p:nvPr/>
        </p:nvGrpSpPr>
        <p:grpSpPr>
          <a:xfrm flipH="1">
            <a:off x="157211" y="941350"/>
            <a:ext cx="1212401" cy="1240945"/>
            <a:chOff x="8264880" y="1119240"/>
            <a:chExt cx="1865520" cy="1909440"/>
          </a:xfrm>
        </p:grpSpPr>
        <p:sp>
          <p:nvSpPr>
            <p:cNvPr id="881" name="Google Shape;881;p29">
              <a:extLst>
                <a:ext uri="{FF2B5EF4-FFF2-40B4-BE49-F238E27FC236}">
                  <a16:creationId xmlns:a16="http://schemas.microsoft.com/office/drawing/2014/main" id="{5BB370C6-9C04-4C1E-EAB3-54CA8401C15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2" name="Google Shape;882;p29">
              <a:extLst>
                <a:ext uri="{FF2B5EF4-FFF2-40B4-BE49-F238E27FC236}">
                  <a16:creationId xmlns:a16="http://schemas.microsoft.com/office/drawing/2014/main" id="{06F1AE93-1155-1F9D-17CC-6E01152B386D}"/>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3" name="Google Shape;883;p29">
              <a:extLst>
                <a:ext uri="{FF2B5EF4-FFF2-40B4-BE49-F238E27FC236}">
                  <a16:creationId xmlns:a16="http://schemas.microsoft.com/office/drawing/2014/main" id="{1152D60C-F61E-D6A9-0C26-763234B45EF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4" name="Google Shape;884;p29">
              <a:extLst>
                <a:ext uri="{FF2B5EF4-FFF2-40B4-BE49-F238E27FC236}">
                  <a16:creationId xmlns:a16="http://schemas.microsoft.com/office/drawing/2014/main" id="{2FA1F47D-C43A-F9EB-80FD-FE461A927CC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85" name="Google Shape;885;p29">
              <a:extLst>
                <a:ext uri="{FF2B5EF4-FFF2-40B4-BE49-F238E27FC236}">
                  <a16:creationId xmlns:a16="http://schemas.microsoft.com/office/drawing/2014/main" id="{72A92CC5-2E1D-E2D6-C3A5-9B027C2175C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dirty="0">
                <a:solidFill>
                  <a:srgbClr val="000000"/>
                </a:solidFill>
                <a:latin typeface="Arial"/>
                <a:ea typeface="Arial"/>
                <a:cs typeface="Arial"/>
                <a:sym typeface="Arial"/>
              </a:endParaRPr>
            </a:p>
          </p:txBody>
        </p:sp>
        <p:sp>
          <p:nvSpPr>
            <p:cNvPr id="886" name="Google Shape;886;p29">
              <a:extLst>
                <a:ext uri="{FF2B5EF4-FFF2-40B4-BE49-F238E27FC236}">
                  <a16:creationId xmlns:a16="http://schemas.microsoft.com/office/drawing/2014/main" id="{D70A0151-7D9C-2A9C-1E98-98668D512745}"/>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606245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866B2504-6AEA-8336-B7E8-4CD31F8F3D21}"/>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BC243BF7-388A-8BD3-F853-9DFC0D68A05C}"/>
              </a:ext>
            </a:extLst>
          </p:cNvPr>
          <p:cNvSpPr txBox="1">
            <a:spLocks noGrp="1"/>
          </p:cNvSpPr>
          <p:nvPr>
            <p:ph type="title"/>
          </p:nvPr>
        </p:nvSpPr>
        <p:spPr>
          <a:xfrm>
            <a:off x="1320400" y="2101475"/>
            <a:ext cx="3946800" cy="148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Cube Olap</a:t>
            </a:r>
            <a:endParaRPr dirty="0"/>
          </a:p>
        </p:txBody>
      </p:sp>
      <p:sp>
        <p:nvSpPr>
          <p:cNvPr id="856" name="Google Shape;856;p28">
            <a:extLst>
              <a:ext uri="{FF2B5EF4-FFF2-40B4-BE49-F238E27FC236}">
                <a16:creationId xmlns:a16="http://schemas.microsoft.com/office/drawing/2014/main" id="{6C443081-FBB8-4B46-3348-E53FBF94D1AD}"/>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857" name="Google Shape;857;p28">
            <a:extLst>
              <a:ext uri="{FF2B5EF4-FFF2-40B4-BE49-F238E27FC236}">
                <a16:creationId xmlns:a16="http://schemas.microsoft.com/office/drawing/2014/main" id="{5FA15367-C28C-4C35-4CB1-68AB59241FA1}"/>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839D7884-1EDA-A9B7-A957-9DF0E611FC2A}"/>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9CD00C0C-BD7C-1618-E517-9F83C6B613EC}"/>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B681C234-CC17-9B2E-AB68-395D177A9949}"/>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A842DA63-66DA-8A6D-37CA-DC39759E1213}"/>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F20984F7-4B05-50F3-D0A3-4ED2D83C3096}"/>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FE9DB2C3-2BC8-E3E9-1B90-CE4DBC0A19B7}"/>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5D904F33-57CC-B636-BAEA-CD05FD948A16}"/>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6F682182-EC61-368E-1AF2-4E327C19C504}"/>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8AA31A57-8107-E8AE-AAAE-400D33518696}"/>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DF67FC9C-5D36-E71F-6E65-150C6B7C0226}"/>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366263C7-373B-DA86-0837-90E7917FCE75}"/>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2941B32C-D53A-58A8-EB61-CCB3E5A2619C}"/>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72F8FA03-09A5-00ED-2510-7E248DA2CAEF}"/>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 name="Google Shape;1916;p44">
            <a:extLst>
              <a:ext uri="{FF2B5EF4-FFF2-40B4-BE49-F238E27FC236}">
                <a16:creationId xmlns:a16="http://schemas.microsoft.com/office/drawing/2014/main" id="{CB97EF85-5152-526A-5789-073F16C7EDE3}"/>
              </a:ext>
            </a:extLst>
          </p:cNvPr>
          <p:cNvGrpSpPr/>
          <p:nvPr/>
        </p:nvGrpSpPr>
        <p:grpSpPr>
          <a:xfrm>
            <a:off x="7564041" y="3679246"/>
            <a:ext cx="829183" cy="669692"/>
            <a:chOff x="975600" y="2661480"/>
            <a:chExt cx="414360" cy="334080"/>
          </a:xfrm>
        </p:grpSpPr>
        <p:sp>
          <p:nvSpPr>
            <p:cNvPr id="3" name="Google Shape;1917;p44">
              <a:extLst>
                <a:ext uri="{FF2B5EF4-FFF2-40B4-BE49-F238E27FC236}">
                  <a16:creationId xmlns:a16="http://schemas.microsoft.com/office/drawing/2014/main" id="{BD894935-9EEA-C50B-93E7-8C7267A4AE64}"/>
                </a:ext>
              </a:extLst>
            </p:cNvPr>
            <p:cNvSpPr/>
            <p:nvPr/>
          </p:nvSpPr>
          <p:spPr>
            <a:xfrm>
              <a:off x="981360" y="2962800"/>
              <a:ext cx="402480" cy="27000"/>
            </a:xfrm>
            <a:custGeom>
              <a:avLst/>
              <a:gdLst/>
              <a:ahLst/>
              <a:cxnLst/>
              <a:rect l="l" t="t" r="r" b="b"/>
              <a:pathLst>
                <a:path w="1118" h="75" extrusionOk="0">
                  <a:moveTo>
                    <a:pt x="14" y="0"/>
                  </a:moveTo>
                  <a:cubicBezTo>
                    <a:pt x="6" y="0"/>
                    <a:pt x="0" y="6"/>
                    <a:pt x="0" y="14"/>
                  </a:cubicBezTo>
                  <a:lnTo>
                    <a:pt x="0" y="61"/>
                  </a:lnTo>
                  <a:cubicBezTo>
                    <a:pt x="0" y="69"/>
                    <a:pt x="6" y="75"/>
                    <a:pt x="14" y="75"/>
                  </a:cubicBezTo>
                  <a:lnTo>
                    <a:pt x="1105" y="75"/>
                  </a:lnTo>
                  <a:cubicBezTo>
                    <a:pt x="1112" y="75"/>
                    <a:pt x="1118" y="69"/>
                    <a:pt x="1118" y="61"/>
                  </a:cubicBezTo>
                  <a:lnTo>
                    <a:pt x="1118" y="14"/>
                  </a:lnTo>
                  <a:cubicBezTo>
                    <a:pt x="1118" y="6"/>
                    <a:pt x="1112" y="0"/>
                    <a:pt x="1105" y="0"/>
                  </a:cubicBezTo>
                  <a:lnTo>
                    <a:pt x="14" y="0"/>
                  </a:ln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 name="Google Shape;1918;p44">
              <a:extLst>
                <a:ext uri="{FF2B5EF4-FFF2-40B4-BE49-F238E27FC236}">
                  <a16:creationId xmlns:a16="http://schemas.microsoft.com/office/drawing/2014/main" id="{9AFF9D13-FD3D-ECC5-F1D6-0725868D2E0E}"/>
                </a:ext>
              </a:extLst>
            </p:cNvPr>
            <p:cNvSpPr/>
            <p:nvPr/>
          </p:nvSpPr>
          <p:spPr>
            <a:xfrm>
              <a:off x="1008360" y="2721240"/>
              <a:ext cx="26640" cy="27000"/>
            </a:xfrm>
            <a:custGeom>
              <a:avLst/>
              <a:gdLst/>
              <a:ahLst/>
              <a:cxnLst/>
              <a:rect l="l" t="t" r="r" b="b"/>
              <a:pathLst>
                <a:path w="74" h="75" extrusionOk="0">
                  <a:moveTo>
                    <a:pt x="74" y="38"/>
                  </a:moveTo>
                  <a:cubicBezTo>
                    <a:pt x="74" y="58"/>
                    <a:pt x="58" y="75"/>
                    <a:pt x="37" y="75"/>
                  </a:cubicBezTo>
                  <a:cubicBezTo>
                    <a:pt x="17" y="75"/>
                    <a:pt x="0" y="58"/>
                    <a:pt x="0" y="38"/>
                  </a:cubicBezTo>
                  <a:cubicBezTo>
                    <a:pt x="0" y="17"/>
                    <a:pt x="17" y="0"/>
                    <a:pt x="37" y="0"/>
                  </a:cubicBezTo>
                  <a:cubicBezTo>
                    <a:pt x="58" y="0"/>
                    <a:pt x="74" y="17"/>
                    <a:pt x="74"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 name="Google Shape;1919;p44">
              <a:extLst>
                <a:ext uri="{FF2B5EF4-FFF2-40B4-BE49-F238E27FC236}">
                  <a16:creationId xmlns:a16="http://schemas.microsoft.com/office/drawing/2014/main" id="{AA59D542-1EF1-211B-A134-6E0F41EC0489}"/>
                </a:ext>
              </a:extLst>
            </p:cNvPr>
            <p:cNvSpPr/>
            <p:nvPr/>
          </p:nvSpPr>
          <p:spPr>
            <a:xfrm>
              <a:off x="1115640" y="277488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 name="Google Shape;1920;p44">
              <a:extLst>
                <a:ext uri="{FF2B5EF4-FFF2-40B4-BE49-F238E27FC236}">
                  <a16:creationId xmlns:a16="http://schemas.microsoft.com/office/drawing/2014/main" id="{6D6BABC3-63D3-C54A-B20F-75BD2BD10E02}"/>
                </a:ext>
              </a:extLst>
            </p:cNvPr>
            <p:cNvSpPr/>
            <p:nvPr/>
          </p:nvSpPr>
          <p:spPr>
            <a:xfrm>
              <a:off x="1222920" y="272124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 name="Google Shape;1921;p44">
              <a:extLst>
                <a:ext uri="{FF2B5EF4-FFF2-40B4-BE49-F238E27FC236}">
                  <a16:creationId xmlns:a16="http://schemas.microsoft.com/office/drawing/2014/main" id="{59E78CAC-C318-9966-4D3D-9D92CBE8DD41}"/>
                </a:ext>
              </a:extLst>
            </p:cNvPr>
            <p:cNvSpPr/>
            <p:nvPr/>
          </p:nvSpPr>
          <p:spPr>
            <a:xfrm>
              <a:off x="1330200" y="266760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 name="Google Shape;1922;p44">
              <a:extLst>
                <a:ext uri="{FF2B5EF4-FFF2-40B4-BE49-F238E27FC236}">
                  <a16:creationId xmlns:a16="http://schemas.microsoft.com/office/drawing/2014/main" id="{063388E7-CC49-2435-5C63-A8F1F7A08D9E}"/>
                </a:ext>
              </a:extLst>
            </p:cNvPr>
            <p:cNvSpPr/>
            <p:nvPr/>
          </p:nvSpPr>
          <p:spPr>
            <a:xfrm>
              <a:off x="1316880" y="2748240"/>
              <a:ext cx="53640" cy="187920"/>
            </a:xfrm>
            <a:custGeom>
              <a:avLst/>
              <a:gdLst/>
              <a:ahLst/>
              <a:cxnLst/>
              <a:rect l="l" t="t" r="r" b="b"/>
              <a:pathLst>
                <a:path w="149" h="522" extrusionOk="0">
                  <a:moveTo>
                    <a:pt x="135" y="0"/>
                  </a:moveTo>
                  <a:lnTo>
                    <a:pt x="13" y="0"/>
                  </a:lnTo>
                  <a:cubicBezTo>
                    <a:pt x="6" y="0"/>
                    <a:pt x="0" y="6"/>
                    <a:pt x="0" y="13"/>
                  </a:cubicBezTo>
                  <a:lnTo>
                    <a:pt x="0" y="508"/>
                  </a:lnTo>
                  <a:cubicBezTo>
                    <a:pt x="0" y="516"/>
                    <a:pt x="6" y="522"/>
                    <a:pt x="13" y="522"/>
                  </a:cubicBezTo>
                  <a:lnTo>
                    <a:pt x="135" y="522"/>
                  </a:lnTo>
                  <a:cubicBezTo>
                    <a:pt x="143" y="522"/>
                    <a:pt x="149" y="516"/>
                    <a:pt x="149" y="508"/>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 name="Google Shape;1923;p44">
              <a:extLst>
                <a:ext uri="{FF2B5EF4-FFF2-40B4-BE49-F238E27FC236}">
                  <a16:creationId xmlns:a16="http://schemas.microsoft.com/office/drawing/2014/main" id="{95226B2E-CA41-1195-BC5C-D0D3319220FC}"/>
                </a:ext>
              </a:extLst>
            </p:cNvPr>
            <p:cNvSpPr/>
            <p:nvPr/>
          </p:nvSpPr>
          <p:spPr>
            <a:xfrm>
              <a:off x="120960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 name="Google Shape;1924;p44">
              <a:extLst>
                <a:ext uri="{FF2B5EF4-FFF2-40B4-BE49-F238E27FC236}">
                  <a16:creationId xmlns:a16="http://schemas.microsoft.com/office/drawing/2014/main" id="{715BC2E8-C334-B40E-D6F5-C2C1B2E5C779}"/>
                </a:ext>
              </a:extLst>
            </p:cNvPr>
            <p:cNvSpPr/>
            <p:nvPr/>
          </p:nvSpPr>
          <p:spPr>
            <a:xfrm>
              <a:off x="1102320" y="2855520"/>
              <a:ext cx="53640" cy="80640"/>
            </a:xfrm>
            <a:custGeom>
              <a:avLst/>
              <a:gdLst/>
              <a:ahLst/>
              <a:cxnLst/>
              <a:rect l="l" t="t" r="r" b="b"/>
              <a:pathLst>
                <a:path w="149" h="224" extrusionOk="0">
                  <a:moveTo>
                    <a:pt x="135" y="0"/>
                  </a:moveTo>
                  <a:lnTo>
                    <a:pt x="13" y="0"/>
                  </a:lnTo>
                  <a:cubicBezTo>
                    <a:pt x="6" y="0"/>
                    <a:pt x="0" y="6"/>
                    <a:pt x="0" y="13"/>
                  </a:cubicBezTo>
                  <a:lnTo>
                    <a:pt x="0" y="210"/>
                  </a:lnTo>
                  <a:cubicBezTo>
                    <a:pt x="0" y="218"/>
                    <a:pt x="6" y="224"/>
                    <a:pt x="13" y="224"/>
                  </a:cubicBezTo>
                  <a:lnTo>
                    <a:pt x="135" y="224"/>
                  </a:lnTo>
                  <a:cubicBezTo>
                    <a:pt x="143" y="224"/>
                    <a:pt x="149" y="218"/>
                    <a:pt x="149" y="210"/>
                  </a:cubicBezTo>
                  <a:lnTo>
                    <a:pt x="149" y="13"/>
                  </a:lnTo>
                  <a:cubicBezTo>
                    <a:pt x="149" y="6"/>
                    <a:pt x="143" y="0"/>
                    <a:pt x="135" y="0"/>
                  </a:cubicBezTo>
                  <a:close/>
                </a:path>
              </a:pathLst>
            </a:custGeom>
            <a:solidFill>
              <a:srgbClr val="008F95"/>
            </a:solidFill>
            <a:ln>
              <a:noFill/>
            </a:ln>
          </p:spPr>
          <p:txBody>
            <a:bodyPr spcFirstLastPara="1" wrap="square" lIns="90000" tIns="35625" rIns="90000" bIns="35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1925;p44">
              <a:extLst>
                <a:ext uri="{FF2B5EF4-FFF2-40B4-BE49-F238E27FC236}">
                  <a16:creationId xmlns:a16="http://schemas.microsoft.com/office/drawing/2014/main" id="{FCD721D6-432A-87A4-66BB-D3F2EB36D53C}"/>
                </a:ext>
              </a:extLst>
            </p:cNvPr>
            <p:cNvSpPr/>
            <p:nvPr/>
          </p:nvSpPr>
          <p:spPr>
            <a:xfrm>
              <a:off x="99504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1926;p44">
              <a:extLst>
                <a:ext uri="{FF2B5EF4-FFF2-40B4-BE49-F238E27FC236}">
                  <a16:creationId xmlns:a16="http://schemas.microsoft.com/office/drawing/2014/main" id="{3C4BF971-CC3B-3661-7117-94474A627965}"/>
                </a:ext>
              </a:extLst>
            </p:cNvPr>
            <p:cNvSpPr/>
            <p:nvPr/>
          </p:nvSpPr>
          <p:spPr>
            <a:xfrm>
              <a:off x="975600" y="2956680"/>
              <a:ext cx="414360" cy="38880"/>
            </a:xfrm>
            <a:custGeom>
              <a:avLst/>
              <a:gdLst/>
              <a:ahLst/>
              <a:cxnLst/>
              <a:rect l="l" t="t" r="r" b="b"/>
              <a:pathLst>
                <a:path w="1151" h="108" extrusionOk="0">
                  <a:moveTo>
                    <a:pt x="1117" y="75"/>
                  </a:moveTo>
                  <a:lnTo>
                    <a:pt x="1077" y="75"/>
                  </a:lnTo>
                  <a:lnTo>
                    <a:pt x="1077" y="34"/>
                  </a:lnTo>
                  <a:lnTo>
                    <a:pt x="1117" y="34"/>
                  </a:lnTo>
                  <a:lnTo>
                    <a:pt x="1117" y="75"/>
                  </a:lnTo>
                  <a:moveTo>
                    <a:pt x="74" y="75"/>
                  </a:moveTo>
                  <a:lnTo>
                    <a:pt x="33" y="75"/>
                  </a:lnTo>
                  <a:lnTo>
                    <a:pt x="33" y="34"/>
                  </a:lnTo>
                  <a:lnTo>
                    <a:pt x="74" y="34"/>
                  </a:lnTo>
                  <a:lnTo>
                    <a:pt x="74" y="75"/>
                  </a:lnTo>
                  <a:moveTo>
                    <a:pt x="1134" y="0"/>
                  </a:moveTo>
                  <a:lnTo>
                    <a:pt x="91" y="0"/>
                  </a:lnTo>
                  <a:lnTo>
                    <a:pt x="91" y="0"/>
                  </a:lnTo>
                  <a:lnTo>
                    <a:pt x="91" y="0"/>
                  </a:lnTo>
                  <a:lnTo>
                    <a:pt x="16" y="0"/>
                  </a:lnTo>
                  <a:cubicBezTo>
                    <a:pt x="12" y="0"/>
                    <a:pt x="8" y="2"/>
                    <a:pt x="4" y="5"/>
                  </a:cubicBezTo>
                  <a:cubicBezTo>
                    <a:pt x="1" y="8"/>
                    <a:pt x="0" y="13"/>
                    <a:pt x="0" y="17"/>
                  </a:cubicBezTo>
                  <a:lnTo>
                    <a:pt x="0" y="92"/>
                  </a:lnTo>
                  <a:cubicBezTo>
                    <a:pt x="0" y="101"/>
                    <a:pt x="7" y="108"/>
                    <a:pt x="16" y="108"/>
                  </a:cubicBezTo>
                  <a:lnTo>
                    <a:pt x="243" y="108"/>
                  </a:lnTo>
                  <a:cubicBezTo>
                    <a:pt x="253" y="108"/>
                    <a:pt x="260" y="101"/>
                    <a:pt x="260" y="92"/>
                  </a:cubicBezTo>
                  <a:cubicBezTo>
                    <a:pt x="260" y="82"/>
                    <a:pt x="253" y="75"/>
                    <a:pt x="243" y="75"/>
                  </a:cubicBezTo>
                  <a:lnTo>
                    <a:pt x="108" y="75"/>
                  </a:lnTo>
                  <a:lnTo>
                    <a:pt x="108" y="34"/>
                  </a:lnTo>
                  <a:lnTo>
                    <a:pt x="1043" y="34"/>
                  </a:lnTo>
                  <a:lnTo>
                    <a:pt x="1043" y="75"/>
                  </a:lnTo>
                  <a:lnTo>
                    <a:pt x="311" y="75"/>
                  </a:lnTo>
                  <a:cubicBezTo>
                    <a:pt x="302" y="75"/>
                    <a:pt x="294" y="82"/>
                    <a:pt x="294" y="92"/>
                  </a:cubicBezTo>
                  <a:cubicBezTo>
                    <a:pt x="294" y="101"/>
                    <a:pt x="302" y="108"/>
                    <a:pt x="311" y="108"/>
                  </a:cubicBezTo>
                  <a:lnTo>
                    <a:pt x="1134" y="108"/>
                  </a:lnTo>
                  <a:cubicBezTo>
                    <a:pt x="1144" y="108"/>
                    <a:pt x="1151" y="101"/>
                    <a:pt x="1151" y="92"/>
                  </a:cubicBezTo>
                  <a:lnTo>
                    <a:pt x="1151" y="17"/>
                  </a:lnTo>
                  <a:cubicBezTo>
                    <a:pt x="1151" y="8"/>
                    <a:pt x="1144" y="0"/>
                    <a:pt x="1134"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 name="Google Shape;1927;p44">
              <a:extLst>
                <a:ext uri="{FF2B5EF4-FFF2-40B4-BE49-F238E27FC236}">
                  <a16:creationId xmlns:a16="http://schemas.microsoft.com/office/drawing/2014/main" id="{5E96E0BF-621B-F637-0498-F375EBC7E1C0}"/>
                </a:ext>
              </a:extLst>
            </p:cNvPr>
            <p:cNvSpPr/>
            <p:nvPr/>
          </p:nvSpPr>
          <p:spPr>
            <a:xfrm>
              <a:off x="1096200" y="2849400"/>
              <a:ext cx="65880" cy="92520"/>
            </a:xfrm>
            <a:custGeom>
              <a:avLst/>
              <a:gdLst/>
              <a:ahLst/>
              <a:cxnLst/>
              <a:rect l="l" t="t" r="r" b="b"/>
              <a:pathLst>
                <a:path w="183" h="257" extrusionOk="0">
                  <a:moveTo>
                    <a:pt x="149" y="224"/>
                  </a:moveTo>
                  <a:lnTo>
                    <a:pt x="34" y="224"/>
                  </a:lnTo>
                  <a:lnTo>
                    <a:pt x="34" y="34"/>
                  </a:lnTo>
                  <a:lnTo>
                    <a:pt x="149" y="34"/>
                  </a:lnTo>
                  <a:lnTo>
                    <a:pt x="149" y="224"/>
                  </a:lnTo>
                  <a:moveTo>
                    <a:pt x="17" y="0"/>
                  </a:moveTo>
                  <a:cubicBezTo>
                    <a:pt x="7" y="0"/>
                    <a:pt x="0" y="8"/>
                    <a:pt x="0" y="17"/>
                  </a:cubicBezTo>
                  <a:lnTo>
                    <a:pt x="0" y="241"/>
                  </a:lnTo>
                  <a:cubicBezTo>
                    <a:pt x="0" y="250"/>
                    <a:pt x="7" y="257"/>
                    <a:pt x="17" y="257"/>
                  </a:cubicBezTo>
                  <a:lnTo>
                    <a:pt x="166" y="257"/>
                  </a:lnTo>
                  <a:cubicBezTo>
                    <a:pt x="175" y="257"/>
                    <a:pt x="183" y="250"/>
                    <a:pt x="183" y="241"/>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 name="Google Shape;1928;p44">
              <a:extLst>
                <a:ext uri="{FF2B5EF4-FFF2-40B4-BE49-F238E27FC236}">
                  <a16:creationId xmlns:a16="http://schemas.microsoft.com/office/drawing/2014/main" id="{87BD7FBA-9724-840A-E4A4-7EB0C216AE91}"/>
                </a:ext>
              </a:extLst>
            </p:cNvPr>
            <p:cNvSpPr/>
            <p:nvPr/>
          </p:nvSpPr>
          <p:spPr>
            <a:xfrm>
              <a:off x="1203480" y="2795760"/>
              <a:ext cx="65880" cy="146160"/>
            </a:xfrm>
            <a:custGeom>
              <a:avLst/>
              <a:gdLst/>
              <a:ahLst/>
              <a:cxnLst/>
              <a:rect l="l" t="t" r="r" b="b"/>
              <a:pathLst>
                <a:path w="183" h="406" extrusionOk="0">
                  <a:moveTo>
                    <a:pt x="149" y="373"/>
                  </a:moveTo>
                  <a:lnTo>
                    <a:pt x="34" y="373"/>
                  </a:lnTo>
                  <a:lnTo>
                    <a:pt x="34" y="34"/>
                  </a:lnTo>
                  <a:lnTo>
                    <a:pt x="149" y="34"/>
                  </a:lnTo>
                  <a:lnTo>
                    <a:pt x="149" y="373"/>
                  </a:lnTo>
                  <a:moveTo>
                    <a:pt x="17" y="0"/>
                  </a:moveTo>
                  <a:cubicBezTo>
                    <a:pt x="7" y="0"/>
                    <a:pt x="0" y="8"/>
                    <a:pt x="0" y="17"/>
                  </a:cubicBezTo>
                  <a:lnTo>
                    <a:pt x="0" y="390"/>
                  </a:lnTo>
                  <a:cubicBezTo>
                    <a:pt x="0" y="399"/>
                    <a:pt x="7" y="406"/>
                    <a:pt x="17" y="406"/>
                  </a:cubicBezTo>
                  <a:lnTo>
                    <a:pt x="166" y="406"/>
                  </a:lnTo>
                  <a:cubicBezTo>
                    <a:pt x="175" y="406"/>
                    <a:pt x="183" y="399"/>
                    <a:pt x="183" y="390"/>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 name="Google Shape;1929;p44">
              <a:extLst>
                <a:ext uri="{FF2B5EF4-FFF2-40B4-BE49-F238E27FC236}">
                  <a16:creationId xmlns:a16="http://schemas.microsoft.com/office/drawing/2014/main" id="{565AD892-38F0-0BE8-3E59-57E21E301688}"/>
                </a:ext>
              </a:extLst>
            </p:cNvPr>
            <p:cNvSpPr/>
            <p:nvPr/>
          </p:nvSpPr>
          <p:spPr>
            <a:xfrm>
              <a:off x="988920" y="2795760"/>
              <a:ext cx="65880" cy="146160"/>
            </a:xfrm>
            <a:custGeom>
              <a:avLst/>
              <a:gdLst/>
              <a:ahLst/>
              <a:cxnLst/>
              <a:rect l="l" t="t" r="r" b="b"/>
              <a:pathLst>
                <a:path w="183" h="406" extrusionOk="0">
                  <a:moveTo>
                    <a:pt x="34" y="34"/>
                  </a:moveTo>
                  <a:lnTo>
                    <a:pt x="149" y="34"/>
                  </a:lnTo>
                  <a:lnTo>
                    <a:pt x="149" y="373"/>
                  </a:lnTo>
                  <a:lnTo>
                    <a:pt x="34" y="373"/>
                  </a:lnTo>
                  <a:lnTo>
                    <a:pt x="34" y="34"/>
                  </a:lnTo>
                  <a:moveTo>
                    <a:pt x="17" y="406"/>
                  </a:moveTo>
                  <a:lnTo>
                    <a:pt x="166" y="406"/>
                  </a:lnTo>
                  <a:cubicBezTo>
                    <a:pt x="175" y="406"/>
                    <a:pt x="183" y="399"/>
                    <a:pt x="183" y="390"/>
                  </a:cubicBezTo>
                  <a:lnTo>
                    <a:pt x="183" y="17"/>
                  </a:lnTo>
                  <a:cubicBezTo>
                    <a:pt x="183" y="8"/>
                    <a:pt x="175" y="0"/>
                    <a:pt x="166" y="0"/>
                  </a:cubicBezTo>
                  <a:lnTo>
                    <a:pt x="17" y="0"/>
                  </a:lnTo>
                  <a:cubicBezTo>
                    <a:pt x="7" y="0"/>
                    <a:pt x="0" y="8"/>
                    <a:pt x="0" y="17"/>
                  </a:cubicBezTo>
                  <a:lnTo>
                    <a:pt x="0" y="390"/>
                  </a:lnTo>
                  <a:cubicBezTo>
                    <a:pt x="0" y="399"/>
                    <a:pt x="7" y="406"/>
                    <a:pt x="17" y="406"/>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 name="Google Shape;1930;p44">
              <a:extLst>
                <a:ext uri="{FF2B5EF4-FFF2-40B4-BE49-F238E27FC236}">
                  <a16:creationId xmlns:a16="http://schemas.microsoft.com/office/drawing/2014/main" id="{DF6818C7-D7E1-0C3F-A6E4-E3C490D602FF}"/>
                </a:ext>
              </a:extLst>
            </p:cNvPr>
            <p:cNvSpPr/>
            <p:nvPr/>
          </p:nvSpPr>
          <p:spPr>
            <a:xfrm>
              <a:off x="1310760" y="2742120"/>
              <a:ext cx="65880" cy="199800"/>
            </a:xfrm>
            <a:custGeom>
              <a:avLst/>
              <a:gdLst/>
              <a:ahLst/>
              <a:cxnLst/>
              <a:rect l="l" t="t" r="r" b="b"/>
              <a:pathLst>
                <a:path w="183" h="555" extrusionOk="0">
                  <a:moveTo>
                    <a:pt x="34" y="34"/>
                  </a:moveTo>
                  <a:lnTo>
                    <a:pt x="149" y="34"/>
                  </a:lnTo>
                  <a:lnTo>
                    <a:pt x="149" y="522"/>
                  </a:lnTo>
                  <a:lnTo>
                    <a:pt x="34" y="522"/>
                  </a:lnTo>
                  <a:lnTo>
                    <a:pt x="34" y="34"/>
                  </a:lnTo>
                  <a:moveTo>
                    <a:pt x="0" y="17"/>
                  </a:moveTo>
                  <a:lnTo>
                    <a:pt x="0" y="539"/>
                  </a:lnTo>
                  <a:cubicBezTo>
                    <a:pt x="0" y="548"/>
                    <a:pt x="8" y="555"/>
                    <a:pt x="17" y="555"/>
                  </a:cubicBezTo>
                  <a:lnTo>
                    <a:pt x="166" y="555"/>
                  </a:lnTo>
                  <a:cubicBezTo>
                    <a:pt x="175" y="555"/>
                    <a:pt x="183" y="548"/>
                    <a:pt x="183" y="539"/>
                  </a:cubicBezTo>
                  <a:lnTo>
                    <a:pt x="183" y="17"/>
                  </a:lnTo>
                  <a:cubicBezTo>
                    <a:pt x="183" y="8"/>
                    <a:pt x="175" y="0"/>
                    <a:pt x="166" y="0"/>
                  </a:cubicBezTo>
                  <a:lnTo>
                    <a:pt x="17" y="0"/>
                  </a:lnTo>
                  <a:cubicBezTo>
                    <a:pt x="8" y="0"/>
                    <a:pt x="0" y="8"/>
                    <a:pt x="0" y="17"/>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 name="Google Shape;1931;p44">
              <a:extLst>
                <a:ext uri="{FF2B5EF4-FFF2-40B4-BE49-F238E27FC236}">
                  <a16:creationId xmlns:a16="http://schemas.microsoft.com/office/drawing/2014/main" id="{3EE341EF-F39C-CADC-B330-33D66121EC30}"/>
                </a:ext>
              </a:extLst>
            </p:cNvPr>
            <p:cNvSpPr/>
            <p:nvPr/>
          </p:nvSpPr>
          <p:spPr>
            <a:xfrm>
              <a:off x="1002240" y="2661480"/>
              <a:ext cx="361080" cy="146520"/>
            </a:xfrm>
            <a:custGeom>
              <a:avLst/>
              <a:gdLst/>
              <a:ahLst/>
              <a:cxnLst/>
              <a:rect l="l" t="t" r="r" b="b"/>
              <a:pathLst>
                <a:path w="1003" h="407" extrusionOk="0">
                  <a:moveTo>
                    <a:pt x="54" y="183"/>
                  </a:moveTo>
                  <a:cubicBezTo>
                    <a:pt x="65" y="183"/>
                    <a:pt x="75" y="192"/>
                    <a:pt x="75" y="204"/>
                  </a:cubicBezTo>
                  <a:cubicBezTo>
                    <a:pt x="75" y="215"/>
                    <a:pt x="65" y="224"/>
                    <a:pt x="54" y="224"/>
                  </a:cubicBezTo>
                  <a:cubicBezTo>
                    <a:pt x="43" y="224"/>
                    <a:pt x="34" y="215"/>
                    <a:pt x="34" y="204"/>
                  </a:cubicBezTo>
                  <a:cubicBezTo>
                    <a:pt x="34" y="192"/>
                    <a:pt x="43" y="183"/>
                    <a:pt x="54" y="183"/>
                  </a:cubicBezTo>
                  <a:moveTo>
                    <a:pt x="352" y="332"/>
                  </a:moveTo>
                  <a:cubicBezTo>
                    <a:pt x="363" y="332"/>
                    <a:pt x="373" y="341"/>
                    <a:pt x="373" y="353"/>
                  </a:cubicBezTo>
                  <a:cubicBezTo>
                    <a:pt x="373" y="364"/>
                    <a:pt x="363" y="373"/>
                    <a:pt x="352" y="373"/>
                  </a:cubicBezTo>
                  <a:cubicBezTo>
                    <a:pt x="341" y="373"/>
                    <a:pt x="332" y="364"/>
                    <a:pt x="332" y="353"/>
                  </a:cubicBezTo>
                  <a:cubicBezTo>
                    <a:pt x="332" y="341"/>
                    <a:pt x="341" y="332"/>
                    <a:pt x="352" y="332"/>
                  </a:cubicBezTo>
                  <a:moveTo>
                    <a:pt x="650" y="183"/>
                  </a:moveTo>
                  <a:cubicBezTo>
                    <a:pt x="662" y="183"/>
                    <a:pt x="671" y="192"/>
                    <a:pt x="671" y="204"/>
                  </a:cubicBezTo>
                  <a:cubicBezTo>
                    <a:pt x="671" y="215"/>
                    <a:pt x="662" y="224"/>
                    <a:pt x="650" y="224"/>
                  </a:cubicBezTo>
                  <a:cubicBezTo>
                    <a:pt x="639" y="224"/>
                    <a:pt x="630" y="215"/>
                    <a:pt x="630" y="204"/>
                  </a:cubicBezTo>
                  <a:cubicBezTo>
                    <a:pt x="630" y="192"/>
                    <a:pt x="639" y="183"/>
                    <a:pt x="650" y="183"/>
                  </a:cubicBezTo>
                  <a:moveTo>
                    <a:pt x="948" y="34"/>
                  </a:moveTo>
                  <a:cubicBezTo>
                    <a:pt x="960" y="34"/>
                    <a:pt x="969" y="43"/>
                    <a:pt x="969" y="55"/>
                  </a:cubicBezTo>
                  <a:cubicBezTo>
                    <a:pt x="969" y="66"/>
                    <a:pt x="960" y="75"/>
                    <a:pt x="948" y="75"/>
                  </a:cubicBezTo>
                  <a:cubicBezTo>
                    <a:pt x="937" y="75"/>
                    <a:pt x="928" y="66"/>
                    <a:pt x="928" y="55"/>
                  </a:cubicBezTo>
                  <a:cubicBezTo>
                    <a:pt x="928" y="43"/>
                    <a:pt x="937" y="34"/>
                    <a:pt x="948" y="34"/>
                  </a:cubicBezTo>
                  <a:moveTo>
                    <a:pt x="54" y="258"/>
                  </a:moveTo>
                  <a:cubicBezTo>
                    <a:pt x="69" y="258"/>
                    <a:pt x="83" y="252"/>
                    <a:pt x="93" y="242"/>
                  </a:cubicBezTo>
                  <a:lnTo>
                    <a:pt x="299" y="345"/>
                  </a:lnTo>
                  <a:cubicBezTo>
                    <a:pt x="298" y="347"/>
                    <a:pt x="298" y="350"/>
                    <a:pt x="298" y="353"/>
                  </a:cubicBezTo>
                  <a:cubicBezTo>
                    <a:pt x="298" y="383"/>
                    <a:pt x="322" y="407"/>
                    <a:pt x="352" y="407"/>
                  </a:cubicBezTo>
                  <a:cubicBezTo>
                    <a:pt x="382" y="407"/>
                    <a:pt x="406" y="383"/>
                    <a:pt x="406" y="353"/>
                  </a:cubicBezTo>
                  <a:cubicBezTo>
                    <a:pt x="406" y="347"/>
                    <a:pt x="406" y="342"/>
                    <a:pt x="404" y="337"/>
                  </a:cubicBezTo>
                  <a:lnTo>
                    <a:pt x="618" y="247"/>
                  </a:lnTo>
                  <a:cubicBezTo>
                    <a:pt x="627" y="254"/>
                    <a:pt x="638" y="258"/>
                    <a:pt x="650" y="258"/>
                  </a:cubicBezTo>
                  <a:cubicBezTo>
                    <a:pt x="680" y="258"/>
                    <a:pt x="704" y="233"/>
                    <a:pt x="704" y="204"/>
                  </a:cubicBezTo>
                  <a:cubicBezTo>
                    <a:pt x="704" y="203"/>
                    <a:pt x="704" y="202"/>
                    <a:pt x="704" y="201"/>
                  </a:cubicBezTo>
                  <a:lnTo>
                    <a:pt x="907" y="89"/>
                  </a:lnTo>
                  <a:cubicBezTo>
                    <a:pt x="917" y="101"/>
                    <a:pt x="932" y="109"/>
                    <a:pt x="948" y="109"/>
                  </a:cubicBezTo>
                  <a:cubicBezTo>
                    <a:pt x="978" y="109"/>
                    <a:pt x="1003" y="84"/>
                    <a:pt x="1003" y="55"/>
                  </a:cubicBezTo>
                  <a:cubicBezTo>
                    <a:pt x="1003" y="25"/>
                    <a:pt x="978" y="0"/>
                    <a:pt x="948" y="0"/>
                  </a:cubicBezTo>
                  <a:cubicBezTo>
                    <a:pt x="919" y="0"/>
                    <a:pt x="894" y="25"/>
                    <a:pt x="894" y="55"/>
                  </a:cubicBezTo>
                  <a:cubicBezTo>
                    <a:pt x="894" y="56"/>
                    <a:pt x="894" y="56"/>
                    <a:pt x="894" y="57"/>
                  </a:cubicBezTo>
                  <a:lnTo>
                    <a:pt x="692" y="169"/>
                  </a:lnTo>
                  <a:cubicBezTo>
                    <a:pt x="682" y="157"/>
                    <a:pt x="667" y="150"/>
                    <a:pt x="650" y="150"/>
                  </a:cubicBezTo>
                  <a:cubicBezTo>
                    <a:pt x="620" y="150"/>
                    <a:pt x="596" y="174"/>
                    <a:pt x="596" y="204"/>
                  </a:cubicBezTo>
                  <a:cubicBezTo>
                    <a:pt x="596" y="209"/>
                    <a:pt x="597" y="214"/>
                    <a:pt x="598" y="219"/>
                  </a:cubicBezTo>
                  <a:lnTo>
                    <a:pt x="384" y="309"/>
                  </a:lnTo>
                  <a:cubicBezTo>
                    <a:pt x="375" y="302"/>
                    <a:pt x="364" y="299"/>
                    <a:pt x="352" y="299"/>
                  </a:cubicBezTo>
                  <a:cubicBezTo>
                    <a:pt x="337" y="299"/>
                    <a:pt x="324" y="305"/>
                    <a:pt x="314" y="315"/>
                  </a:cubicBezTo>
                  <a:lnTo>
                    <a:pt x="108" y="212"/>
                  </a:lnTo>
                  <a:cubicBezTo>
                    <a:pt x="108" y="209"/>
                    <a:pt x="108" y="206"/>
                    <a:pt x="108" y="204"/>
                  </a:cubicBezTo>
                  <a:cubicBezTo>
                    <a:pt x="108" y="174"/>
                    <a:pt x="84" y="150"/>
                    <a:pt x="54" y="150"/>
                  </a:cubicBezTo>
                  <a:cubicBezTo>
                    <a:pt x="24" y="150"/>
                    <a:pt x="0" y="174"/>
                    <a:pt x="0" y="204"/>
                  </a:cubicBezTo>
                  <a:cubicBezTo>
                    <a:pt x="0" y="233"/>
                    <a:pt x="24" y="258"/>
                    <a:pt x="54" y="258"/>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3494089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9C6A7D5E-F5F9-B90E-DE6A-6E2FE54CACC2}"/>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AB18BE79-BD92-1EB2-7725-D403DF926D16}"/>
              </a:ext>
            </a:extLst>
          </p:cNvPr>
          <p:cNvSpPr txBox="1">
            <a:spLocks noGrp="1"/>
          </p:cNvSpPr>
          <p:nvPr>
            <p:ph type="title"/>
          </p:nvPr>
        </p:nvSpPr>
        <p:spPr>
          <a:xfrm>
            <a:off x="896400" y="940905"/>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Schema</a:t>
            </a:r>
            <a:endParaRPr dirty="0"/>
          </a:p>
        </p:txBody>
      </p:sp>
      <p:sp>
        <p:nvSpPr>
          <p:cNvPr id="878" name="Google Shape;878;p29">
            <a:extLst>
              <a:ext uri="{FF2B5EF4-FFF2-40B4-BE49-F238E27FC236}">
                <a16:creationId xmlns:a16="http://schemas.microsoft.com/office/drawing/2014/main" id="{33EB7098-E351-CB86-DB20-F839E9AB3F98}"/>
              </a:ext>
            </a:extLst>
          </p:cNvPr>
          <p:cNvSpPr txBox="1">
            <a:spLocks noGrp="1"/>
          </p:cNvSpPr>
          <p:nvPr>
            <p:ph type="body" idx="1"/>
          </p:nvPr>
        </p:nvSpPr>
        <p:spPr>
          <a:xfrm>
            <a:off x="3375826" y="1848779"/>
            <a:ext cx="4106428" cy="2916651"/>
          </a:xfrm>
          <a:prstGeom prst="rect">
            <a:avLst/>
          </a:prstGeom>
        </p:spPr>
        <p:txBody>
          <a:bodyPr spcFirstLastPara="1" wrap="square" lIns="91425" tIns="91425" rIns="91425" bIns="91425" anchor="t" anchorCtr="0">
            <a:noAutofit/>
          </a:bodyPr>
          <a:lstStyle/>
          <a:p>
            <a:pPr marL="139700" indent="0">
              <a:buNone/>
            </a:pPr>
            <a:r>
              <a:rPr lang="en-US" b="1" dirty="0"/>
              <a:t>The OLAP cube schema includes the following:</a:t>
            </a:r>
          </a:p>
          <a:p>
            <a:r>
              <a:rPr lang="en-US" dirty="0"/>
              <a:t>Fact Table (fait): Stores the price of each car.</a:t>
            </a:r>
          </a:p>
          <a:p>
            <a:r>
              <a:rPr lang="fr-FR" dirty="0"/>
              <a:t>Dimensions:</a:t>
            </a:r>
          </a:p>
          <a:p>
            <a:pPr lvl="1"/>
            <a:r>
              <a:rPr lang="en-US" dirty="0"/>
              <a:t>Brand_Model : Details of vehicle brand and model.</a:t>
            </a:r>
          </a:p>
          <a:p>
            <a:pPr lvl="1"/>
            <a:r>
              <a:rPr lang="en-US" dirty="0"/>
              <a:t>Date: Information on year and age of the vehicle.</a:t>
            </a:r>
          </a:p>
          <a:p>
            <a:pPr lvl="1"/>
            <a:r>
              <a:rPr lang="fr-FR" dirty="0"/>
              <a:t>Mileage : Vehicle mileage details.</a:t>
            </a:r>
          </a:p>
          <a:p>
            <a:pPr lvl="1"/>
            <a:r>
              <a:rPr lang="en-US" dirty="0"/>
              <a:t>Information : Vehicle-specific details such as fuel type and transmission.</a:t>
            </a:r>
          </a:p>
          <a:p>
            <a:pPr marL="139700" indent="0">
              <a:buNone/>
            </a:pPr>
            <a:endParaRPr lang="en" dirty="0">
              <a:solidFill>
                <a:schemeClr val="dk1"/>
              </a:solidFill>
            </a:endParaRPr>
          </a:p>
        </p:txBody>
      </p:sp>
      <p:pic>
        <p:nvPicPr>
          <p:cNvPr id="7" name="Image 6" descr="Une image contenant texte, capture d’écran, diagramme, Police&#10;&#10;Description générée automatiquement">
            <a:extLst>
              <a:ext uri="{FF2B5EF4-FFF2-40B4-BE49-F238E27FC236}">
                <a16:creationId xmlns:a16="http://schemas.microsoft.com/office/drawing/2014/main" id="{4813EC5F-7FF1-069E-EF6A-FC397E9C736D}"/>
              </a:ext>
            </a:extLst>
          </p:cNvPr>
          <p:cNvPicPr>
            <a:picLocks noChangeAspect="1"/>
          </p:cNvPicPr>
          <p:nvPr/>
        </p:nvPicPr>
        <p:blipFill>
          <a:blip r:embed="rId3"/>
          <a:stretch>
            <a:fillRect/>
          </a:stretch>
        </p:blipFill>
        <p:spPr>
          <a:xfrm>
            <a:off x="1225674" y="1848780"/>
            <a:ext cx="1619476" cy="2200582"/>
          </a:xfrm>
          <a:prstGeom prst="rect">
            <a:avLst/>
          </a:prstGeom>
        </p:spPr>
      </p:pic>
    </p:spTree>
    <p:extLst>
      <p:ext uri="{BB962C8B-B14F-4D97-AF65-F5344CB8AC3E}">
        <p14:creationId xmlns:p14="http://schemas.microsoft.com/office/powerpoint/2010/main" val="2311065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6382B2A9-8364-BD83-E3B8-3F1184ACDC31}"/>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B9DE5CFF-16E7-336C-D674-F42FB54C0394}"/>
              </a:ext>
            </a:extLst>
          </p:cNvPr>
          <p:cNvSpPr txBox="1">
            <a:spLocks noGrp="1"/>
          </p:cNvSpPr>
          <p:nvPr>
            <p:ph type="title"/>
          </p:nvPr>
        </p:nvSpPr>
        <p:spPr>
          <a:xfrm>
            <a:off x="430782" y="825678"/>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Schema</a:t>
            </a:r>
            <a:endParaRPr dirty="0"/>
          </a:p>
        </p:txBody>
      </p:sp>
      <p:pic>
        <p:nvPicPr>
          <p:cNvPr id="5" name="Image 4" descr="Une image contenant texte, capture d’écran, Police, diagramme&#10;&#10;Description générée automatiquement">
            <a:extLst>
              <a:ext uri="{FF2B5EF4-FFF2-40B4-BE49-F238E27FC236}">
                <a16:creationId xmlns:a16="http://schemas.microsoft.com/office/drawing/2014/main" id="{9B7D6C4F-04C6-33B7-08B9-43CFDC7397E9}"/>
              </a:ext>
            </a:extLst>
          </p:cNvPr>
          <p:cNvPicPr>
            <a:picLocks noChangeAspect="1"/>
          </p:cNvPicPr>
          <p:nvPr/>
        </p:nvPicPr>
        <p:blipFill>
          <a:blip r:embed="rId3"/>
          <a:stretch>
            <a:fillRect/>
          </a:stretch>
        </p:blipFill>
        <p:spPr>
          <a:xfrm>
            <a:off x="1174659" y="1502350"/>
            <a:ext cx="1425867" cy="1069400"/>
          </a:xfrm>
          <a:prstGeom prst="rect">
            <a:avLst/>
          </a:prstGeom>
        </p:spPr>
      </p:pic>
      <p:pic>
        <p:nvPicPr>
          <p:cNvPr id="8" name="Image 7" descr="Une image contenant texte, Police, capture d’écran, diagramme&#10;&#10;Description générée automatiquement">
            <a:extLst>
              <a:ext uri="{FF2B5EF4-FFF2-40B4-BE49-F238E27FC236}">
                <a16:creationId xmlns:a16="http://schemas.microsoft.com/office/drawing/2014/main" id="{AF81E48F-602D-1D14-DFC2-77D9298732BC}"/>
              </a:ext>
            </a:extLst>
          </p:cNvPr>
          <p:cNvPicPr>
            <a:picLocks noChangeAspect="1"/>
          </p:cNvPicPr>
          <p:nvPr/>
        </p:nvPicPr>
        <p:blipFill>
          <a:blip r:embed="rId4"/>
          <a:stretch>
            <a:fillRect/>
          </a:stretch>
        </p:blipFill>
        <p:spPr>
          <a:xfrm>
            <a:off x="5491976" y="1496125"/>
            <a:ext cx="1609275" cy="1161818"/>
          </a:xfrm>
          <a:prstGeom prst="rect">
            <a:avLst/>
          </a:prstGeom>
        </p:spPr>
      </p:pic>
      <p:pic>
        <p:nvPicPr>
          <p:cNvPr id="10" name="Image 9" descr="Une image contenant texte, Police, capture d’écran, diagramme&#10;&#10;Description générée automatiquement">
            <a:extLst>
              <a:ext uri="{FF2B5EF4-FFF2-40B4-BE49-F238E27FC236}">
                <a16:creationId xmlns:a16="http://schemas.microsoft.com/office/drawing/2014/main" id="{FA61D34A-213D-9555-F428-B277865D5AEE}"/>
              </a:ext>
            </a:extLst>
          </p:cNvPr>
          <p:cNvPicPr>
            <a:picLocks noChangeAspect="1"/>
          </p:cNvPicPr>
          <p:nvPr/>
        </p:nvPicPr>
        <p:blipFill>
          <a:blip r:embed="rId5"/>
          <a:stretch>
            <a:fillRect/>
          </a:stretch>
        </p:blipFill>
        <p:spPr>
          <a:xfrm>
            <a:off x="1083437" y="3361924"/>
            <a:ext cx="1608310" cy="1069400"/>
          </a:xfrm>
          <a:prstGeom prst="rect">
            <a:avLst/>
          </a:prstGeom>
        </p:spPr>
      </p:pic>
      <p:pic>
        <p:nvPicPr>
          <p:cNvPr id="12" name="Image 11" descr="Une image contenant texte, capture d’écran, Police, diagramme&#10;&#10;Description générée automatiquement">
            <a:extLst>
              <a:ext uri="{FF2B5EF4-FFF2-40B4-BE49-F238E27FC236}">
                <a16:creationId xmlns:a16="http://schemas.microsoft.com/office/drawing/2014/main" id="{883D5451-07D2-0DE2-E117-E502F0DE5850}"/>
              </a:ext>
            </a:extLst>
          </p:cNvPr>
          <p:cNvPicPr>
            <a:picLocks noChangeAspect="1"/>
          </p:cNvPicPr>
          <p:nvPr/>
        </p:nvPicPr>
        <p:blipFill>
          <a:blip r:embed="rId6"/>
          <a:stretch>
            <a:fillRect/>
          </a:stretch>
        </p:blipFill>
        <p:spPr>
          <a:xfrm>
            <a:off x="5441937" y="3361924"/>
            <a:ext cx="1657528" cy="1161818"/>
          </a:xfrm>
          <a:prstGeom prst="rect">
            <a:avLst/>
          </a:prstGeom>
        </p:spPr>
      </p:pic>
      <p:pic>
        <p:nvPicPr>
          <p:cNvPr id="14" name="Image 13" descr="Une image contenant texte, diagramme, capture d’écran, conception&#10;&#10;Description générée automatiquement">
            <a:extLst>
              <a:ext uri="{FF2B5EF4-FFF2-40B4-BE49-F238E27FC236}">
                <a16:creationId xmlns:a16="http://schemas.microsoft.com/office/drawing/2014/main" id="{232CAEF3-F078-8BDF-AD70-124429D0DE95}"/>
              </a:ext>
            </a:extLst>
          </p:cNvPr>
          <p:cNvPicPr>
            <a:picLocks noChangeAspect="1"/>
          </p:cNvPicPr>
          <p:nvPr/>
        </p:nvPicPr>
        <p:blipFill>
          <a:blip r:embed="rId7"/>
          <a:stretch>
            <a:fillRect/>
          </a:stretch>
        </p:blipFill>
        <p:spPr>
          <a:xfrm>
            <a:off x="3578504" y="2555382"/>
            <a:ext cx="1222096" cy="611048"/>
          </a:xfrm>
          <a:prstGeom prst="rect">
            <a:avLst/>
          </a:prstGeom>
        </p:spPr>
      </p:pic>
      <p:cxnSp>
        <p:nvCxnSpPr>
          <p:cNvPr id="16" name="Connecteur droit avec flèche 15">
            <a:extLst>
              <a:ext uri="{FF2B5EF4-FFF2-40B4-BE49-F238E27FC236}">
                <a16:creationId xmlns:a16="http://schemas.microsoft.com/office/drawing/2014/main" id="{22B878A4-E6C9-599B-B498-90D4E01B3901}"/>
              </a:ext>
            </a:extLst>
          </p:cNvPr>
          <p:cNvCxnSpPr>
            <a:cxnSpLocks/>
            <a:stCxn id="10" idx="3"/>
          </p:cNvCxnSpPr>
          <p:nvPr/>
        </p:nvCxnSpPr>
        <p:spPr>
          <a:xfrm flipV="1">
            <a:off x="2691747" y="3166430"/>
            <a:ext cx="825176" cy="7301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59177462-0549-BE71-2E7E-86338294B89A}"/>
              </a:ext>
            </a:extLst>
          </p:cNvPr>
          <p:cNvCxnSpPr>
            <a:stCxn id="5" idx="3"/>
          </p:cNvCxnSpPr>
          <p:nvPr/>
        </p:nvCxnSpPr>
        <p:spPr>
          <a:xfrm>
            <a:off x="2600526" y="2037050"/>
            <a:ext cx="916397" cy="534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805F2351-BF5B-308D-32B4-9C9D093C0B76}"/>
              </a:ext>
            </a:extLst>
          </p:cNvPr>
          <p:cNvCxnSpPr>
            <a:cxnSpLocks/>
          </p:cNvCxnSpPr>
          <p:nvPr/>
        </p:nvCxnSpPr>
        <p:spPr>
          <a:xfrm flipH="1">
            <a:off x="4521961" y="1974473"/>
            <a:ext cx="919976" cy="580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eur droit avec flèche 22">
            <a:extLst>
              <a:ext uri="{FF2B5EF4-FFF2-40B4-BE49-F238E27FC236}">
                <a16:creationId xmlns:a16="http://schemas.microsoft.com/office/drawing/2014/main" id="{3424C67A-B460-71FD-CC05-C61035CFEC87}"/>
              </a:ext>
            </a:extLst>
          </p:cNvPr>
          <p:cNvCxnSpPr>
            <a:stCxn id="12" idx="1"/>
          </p:cNvCxnSpPr>
          <p:nvPr/>
        </p:nvCxnSpPr>
        <p:spPr>
          <a:xfrm flipH="1" flipV="1">
            <a:off x="4494901" y="3241072"/>
            <a:ext cx="947036" cy="7017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77103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CE224D33-7C92-744C-B625-83429A386137}"/>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49C3DDD3-3978-794F-EA42-85622B227BEC}"/>
              </a:ext>
            </a:extLst>
          </p:cNvPr>
          <p:cNvSpPr txBox="1">
            <a:spLocks noGrp="1"/>
          </p:cNvSpPr>
          <p:nvPr>
            <p:ph type="title"/>
          </p:nvPr>
        </p:nvSpPr>
        <p:spPr>
          <a:xfrm>
            <a:off x="663404" y="1043592"/>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Analysis</a:t>
            </a:r>
            <a:endParaRPr dirty="0"/>
          </a:p>
        </p:txBody>
      </p:sp>
      <p:sp>
        <p:nvSpPr>
          <p:cNvPr id="4" name="ZoneTexte 3">
            <a:extLst>
              <a:ext uri="{FF2B5EF4-FFF2-40B4-BE49-F238E27FC236}">
                <a16:creationId xmlns:a16="http://schemas.microsoft.com/office/drawing/2014/main" id="{2F3D29F9-1A19-C273-7624-E980565613D2}"/>
              </a:ext>
            </a:extLst>
          </p:cNvPr>
          <p:cNvSpPr txBox="1"/>
          <p:nvPr/>
        </p:nvSpPr>
        <p:spPr>
          <a:xfrm>
            <a:off x="871388" y="2048530"/>
            <a:ext cx="7420621" cy="1384995"/>
          </a:xfrm>
          <a:prstGeom prst="rect">
            <a:avLst/>
          </a:prstGeom>
          <a:noFill/>
        </p:spPr>
        <p:txBody>
          <a:bodyPr wrap="none" rtlCol="0">
            <a:spAutoFit/>
          </a:bodyPr>
          <a:lstStyle/>
          <a:p>
            <a:r>
              <a:rPr lang="en-US" b="1" dirty="0"/>
              <a:t>Insights Derived from the Cube:</a:t>
            </a:r>
          </a:p>
          <a:p>
            <a:endParaRPr lang="en-US" dirty="0"/>
          </a:p>
          <a:p>
            <a:pPr marL="285750" indent="-285750">
              <a:buFont typeface="Arial" panose="020B0604020202020204" pitchFamily="34" charset="0"/>
              <a:buChar char="•"/>
            </a:pPr>
            <a:r>
              <a:rPr lang="en-US" b="1" dirty="0"/>
              <a:t>Brand-Level Insights:</a:t>
            </a:r>
            <a:r>
              <a:rPr lang="en-US" dirty="0"/>
              <a:t> Identify which brands/models retain value over time.</a:t>
            </a:r>
          </a:p>
          <a:p>
            <a:pPr lvl="2">
              <a:buFont typeface="Arial" panose="020B0604020202020204" pitchFamily="34" charset="0"/>
              <a:buChar char="•"/>
            </a:pPr>
            <a:r>
              <a:rPr lang="en-US" b="1" dirty="0"/>
              <a:t>     Price Trends:</a:t>
            </a:r>
            <a:r>
              <a:rPr lang="en-US" dirty="0"/>
              <a:t> Understand fluctuations in vehicle pricing by mileage or date.</a:t>
            </a:r>
          </a:p>
          <a:p>
            <a:pPr>
              <a:buFont typeface="Arial" panose="020B0604020202020204" pitchFamily="34" charset="0"/>
              <a:buChar char="•"/>
            </a:pPr>
            <a:r>
              <a:rPr lang="en-US" b="1" dirty="0"/>
              <a:t>     Mileage Analysis:</a:t>
            </a:r>
            <a:r>
              <a:rPr lang="en-US" dirty="0"/>
              <a:t> Correlation between mileage and pricing across different models.</a:t>
            </a:r>
          </a:p>
          <a:p>
            <a:pPr>
              <a:buFont typeface="Arial" panose="020B0604020202020204" pitchFamily="34" charset="0"/>
              <a:buChar char="•"/>
            </a:pPr>
            <a:r>
              <a:rPr lang="en-US" b="1" dirty="0"/>
              <a:t>     Custom Information Queries:</a:t>
            </a:r>
            <a:r>
              <a:rPr lang="en-US" dirty="0"/>
              <a:t> Analyze the price based on additional descriptive fields.</a:t>
            </a:r>
          </a:p>
        </p:txBody>
      </p:sp>
    </p:spTree>
    <p:extLst>
      <p:ext uri="{BB962C8B-B14F-4D97-AF65-F5344CB8AC3E}">
        <p14:creationId xmlns:p14="http://schemas.microsoft.com/office/powerpoint/2010/main" val="2585704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A23A4E56-418E-9025-33FE-59F20ADEB9F4}"/>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3BA6B467-999F-B202-C93B-FD50138406D3}"/>
              </a:ext>
            </a:extLst>
          </p:cNvPr>
          <p:cNvSpPr txBox="1">
            <a:spLocks noGrp="1"/>
          </p:cNvSpPr>
          <p:nvPr>
            <p:ph type="title"/>
          </p:nvPr>
        </p:nvSpPr>
        <p:spPr>
          <a:xfrm>
            <a:off x="663404" y="1043592"/>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Use cases</a:t>
            </a:r>
            <a:endParaRPr dirty="0"/>
          </a:p>
        </p:txBody>
      </p:sp>
      <p:sp>
        <p:nvSpPr>
          <p:cNvPr id="4" name="ZoneTexte 3">
            <a:extLst>
              <a:ext uri="{FF2B5EF4-FFF2-40B4-BE49-F238E27FC236}">
                <a16:creationId xmlns:a16="http://schemas.microsoft.com/office/drawing/2014/main" id="{6A87DD49-B03D-4CAF-F932-291D72E4DF51}"/>
              </a:ext>
            </a:extLst>
          </p:cNvPr>
          <p:cNvSpPr txBox="1"/>
          <p:nvPr/>
        </p:nvSpPr>
        <p:spPr>
          <a:xfrm>
            <a:off x="906573" y="2057322"/>
            <a:ext cx="5833648" cy="1169551"/>
          </a:xfrm>
          <a:prstGeom prst="rect">
            <a:avLst/>
          </a:prstGeom>
          <a:noFill/>
        </p:spPr>
        <p:txBody>
          <a:bodyPr wrap="none" rtlCol="0">
            <a:spAutoFit/>
          </a:bodyPr>
          <a:lstStyle/>
          <a:p>
            <a:r>
              <a:rPr lang="en-US" b="1" dirty="0"/>
              <a:t>Business Applications:</a:t>
            </a:r>
          </a:p>
          <a:p>
            <a:endParaRPr lang="en-US" dirty="0"/>
          </a:p>
          <a:p>
            <a:pPr marL="285750" indent="-285750">
              <a:buFont typeface="Arial" panose="020B0604020202020204" pitchFamily="34" charset="0"/>
              <a:buChar char="•"/>
            </a:pPr>
            <a:r>
              <a:rPr lang="en-US" b="1" dirty="0"/>
              <a:t>Dealerships:</a:t>
            </a:r>
            <a:r>
              <a:rPr lang="en-US" dirty="0"/>
              <a:t> Optimize pricing strategies and predict market trends.</a:t>
            </a:r>
          </a:p>
          <a:p>
            <a:pPr marL="285750" indent="-285750">
              <a:buFont typeface="Arial" panose="020B0604020202020204" pitchFamily="34" charset="0"/>
              <a:buChar char="•"/>
            </a:pPr>
            <a:r>
              <a:rPr lang="en-US" b="1" dirty="0"/>
              <a:t>Consumers:</a:t>
            </a:r>
            <a:r>
              <a:rPr lang="en-US" dirty="0"/>
              <a:t> Provide insights for buyers on vehicle value over time.</a:t>
            </a:r>
          </a:p>
          <a:p>
            <a:pPr marL="285750" indent="-285750">
              <a:buFont typeface="Arial" panose="020B0604020202020204" pitchFamily="34" charset="0"/>
              <a:buChar char="•"/>
            </a:pPr>
            <a:r>
              <a:rPr lang="en-US" b="1" dirty="0"/>
              <a:t>Market Analysts:</a:t>
            </a:r>
            <a:r>
              <a:rPr lang="en-US" dirty="0"/>
              <a:t> Study trends in the automotive industry.</a:t>
            </a:r>
          </a:p>
        </p:txBody>
      </p:sp>
    </p:spTree>
    <p:extLst>
      <p:ext uri="{BB962C8B-B14F-4D97-AF65-F5344CB8AC3E}">
        <p14:creationId xmlns:p14="http://schemas.microsoft.com/office/powerpoint/2010/main" val="64655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8428BC45-9C2B-4D05-7F65-B86885F3ADD8}"/>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5949080C-50A9-F352-12A1-7873E33AE0AA}"/>
              </a:ext>
            </a:extLst>
          </p:cNvPr>
          <p:cNvSpPr txBox="1">
            <a:spLocks noGrp="1"/>
          </p:cNvSpPr>
          <p:nvPr>
            <p:ph type="title"/>
          </p:nvPr>
        </p:nvSpPr>
        <p:spPr>
          <a:xfrm>
            <a:off x="1320400" y="2101475"/>
            <a:ext cx="3946800" cy="1488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a:t>
            </a:r>
            <a:endParaRPr dirty="0"/>
          </a:p>
        </p:txBody>
      </p:sp>
      <p:sp>
        <p:nvSpPr>
          <p:cNvPr id="856" name="Google Shape;856;p28">
            <a:extLst>
              <a:ext uri="{FF2B5EF4-FFF2-40B4-BE49-F238E27FC236}">
                <a16:creationId xmlns:a16="http://schemas.microsoft.com/office/drawing/2014/main" id="{BE020D23-09AC-AFB1-C6C0-7DD1B76935ED}"/>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857" name="Google Shape;857;p28">
            <a:extLst>
              <a:ext uri="{FF2B5EF4-FFF2-40B4-BE49-F238E27FC236}">
                <a16:creationId xmlns:a16="http://schemas.microsoft.com/office/drawing/2014/main" id="{34E5E9F6-98FC-B65B-7348-2CA4F2E237E7}"/>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705D36B7-361E-FD71-E8B9-CDB57AF61C22}"/>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5CBD8074-C00D-4481-99E1-66133BD15026}"/>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B0991BEF-A00C-D54D-D4F5-DEF6229F078D}"/>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A63D62AD-4D03-8864-33ED-C7038D27B5DF}"/>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0BEDB652-B42E-EC31-CEF7-D1C2EE50FC35}"/>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EE17817D-FA53-D9FC-3DF1-C5AA13A6564E}"/>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2976F372-9388-FD31-B922-8032E22C6047}"/>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106E1475-0EC9-F0FB-AA1F-D95EDBC77109}"/>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820EDAF7-027B-62A2-D4BF-F4E4237892BB}"/>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D889480E-4CFF-CC7A-DF36-576E55CBAA13}"/>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20ADAF03-62B6-4A70-C495-5013DFF73F7C}"/>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97E0F166-695B-2C7D-3F48-516F49819206}"/>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828B2D9A-3CDC-94F3-BEF3-E1BF787B9957}"/>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 name="Google Shape;1916;p44">
            <a:extLst>
              <a:ext uri="{FF2B5EF4-FFF2-40B4-BE49-F238E27FC236}">
                <a16:creationId xmlns:a16="http://schemas.microsoft.com/office/drawing/2014/main" id="{00B55111-6BDA-DC87-2B7F-8306825CC211}"/>
              </a:ext>
            </a:extLst>
          </p:cNvPr>
          <p:cNvGrpSpPr/>
          <p:nvPr/>
        </p:nvGrpSpPr>
        <p:grpSpPr>
          <a:xfrm>
            <a:off x="7564041" y="3679246"/>
            <a:ext cx="829183" cy="669692"/>
            <a:chOff x="975600" y="2661480"/>
            <a:chExt cx="414360" cy="334080"/>
          </a:xfrm>
        </p:grpSpPr>
        <p:sp>
          <p:nvSpPr>
            <p:cNvPr id="3" name="Google Shape;1917;p44">
              <a:extLst>
                <a:ext uri="{FF2B5EF4-FFF2-40B4-BE49-F238E27FC236}">
                  <a16:creationId xmlns:a16="http://schemas.microsoft.com/office/drawing/2014/main" id="{4A5DF1E3-7B4C-1E8C-7AA4-AD41823FE422}"/>
                </a:ext>
              </a:extLst>
            </p:cNvPr>
            <p:cNvSpPr/>
            <p:nvPr/>
          </p:nvSpPr>
          <p:spPr>
            <a:xfrm>
              <a:off x="981360" y="2962800"/>
              <a:ext cx="402480" cy="27000"/>
            </a:xfrm>
            <a:custGeom>
              <a:avLst/>
              <a:gdLst/>
              <a:ahLst/>
              <a:cxnLst/>
              <a:rect l="l" t="t" r="r" b="b"/>
              <a:pathLst>
                <a:path w="1118" h="75" extrusionOk="0">
                  <a:moveTo>
                    <a:pt x="14" y="0"/>
                  </a:moveTo>
                  <a:cubicBezTo>
                    <a:pt x="6" y="0"/>
                    <a:pt x="0" y="6"/>
                    <a:pt x="0" y="14"/>
                  </a:cubicBezTo>
                  <a:lnTo>
                    <a:pt x="0" y="61"/>
                  </a:lnTo>
                  <a:cubicBezTo>
                    <a:pt x="0" y="69"/>
                    <a:pt x="6" y="75"/>
                    <a:pt x="14" y="75"/>
                  </a:cubicBezTo>
                  <a:lnTo>
                    <a:pt x="1105" y="75"/>
                  </a:lnTo>
                  <a:cubicBezTo>
                    <a:pt x="1112" y="75"/>
                    <a:pt x="1118" y="69"/>
                    <a:pt x="1118" y="61"/>
                  </a:cubicBezTo>
                  <a:lnTo>
                    <a:pt x="1118" y="14"/>
                  </a:lnTo>
                  <a:cubicBezTo>
                    <a:pt x="1118" y="6"/>
                    <a:pt x="1112" y="0"/>
                    <a:pt x="1105" y="0"/>
                  </a:cubicBezTo>
                  <a:lnTo>
                    <a:pt x="14" y="0"/>
                  </a:ln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 name="Google Shape;1918;p44">
              <a:extLst>
                <a:ext uri="{FF2B5EF4-FFF2-40B4-BE49-F238E27FC236}">
                  <a16:creationId xmlns:a16="http://schemas.microsoft.com/office/drawing/2014/main" id="{680334C3-B7BA-8D46-F0DC-4FE0F6DE54CF}"/>
                </a:ext>
              </a:extLst>
            </p:cNvPr>
            <p:cNvSpPr/>
            <p:nvPr/>
          </p:nvSpPr>
          <p:spPr>
            <a:xfrm>
              <a:off x="1008360" y="2721240"/>
              <a:ext cx="26640" cy="27000"/>
            </a:xfrm>
            <a:custGeom>
              <a:avLst/>
              <a:gdLst/>
              <a:ahLst/>
              <a:cxnLst/>
              <a:rect l="l" t="t" r="r" b="b"/>
              <a:pathLst>
                <a:path w="74" h="75" extrusionOk="0">
                  <a:moveTo>
                    <a:pt x="74" y="38"/>
                  </a:moveTo>
                  <a:cubicBezTo>
                    <a:pt x="74" y="58"/>
                    <a:pt x="58" y="75"/>
                    <a:pt x="37" y="75"/>
                  </a:cubicBezTo>
                  <a:cubicBezTo>
                    <a:pt x="17" y="75"/>
                    <a:pt x="0" y="58"/>
                    <a:pt x="0" y="38"/>
                  </a:cubicBezTo>
                  <a:cubicBezTo>
                    <a:pt x="0" y="17"/>
                    <a:pt x="17" y="0"/>
                    <a:pt x="37" y="0"/>
                  </a:cubicBezTo>
                  <a:cubicBezTo>
                    <a:pt x="58" y="0"/>
                    <a:pt x="74" y="17"/>
                    <a:pt x="74"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 name="Google Shape;1919;p44">
              <a:extLst>
                <a:ext uri="{FF2B5EF4-FFF2-40B4-BE49-F238E27FC236}">
                  <a16:creationId xmlns:a16="http://schemas.microsoft.com/office/drawing/2014/main" id="{6F22A4DC-0C4C-91D2-0325-D06B3439D6D8}"/>
                </a:ext>
              </a:extLst>
            </p:cNvPr>
            <p:cNvSpPr/>
            <p:nvPr/>
          </p:nvSpPr>
          <p:spPr>
            <a:xfrm>
              <a:off x="1115640" y="277488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 name="Google Shape;1920;p44">
              <a:extLst>
                <a:ext uri="{FF2B5EF4-FFF2-40B4-BE49-F238E27FC236}">
                  <a16:creationId xmlns:a16="http://schemas.microsoft.com/office/drawing/2014/main" id="{9317FFBE-69E5-C4FC-0602-85E5D621A709}"/>
                </a:ext>
              </a:extLst>
            </p:cNvPr>
            <p:cNvSpPr/>
            <p:nvPr/>
          </p:nvSpPr>
          <p:spPr>
            <a:xfrm>
              <a:off x="1222920" y="272124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 name="Google Shape;1921;p44">
              <a:extLst>
                <a:ext uri="{FF2B5EF4-FFF2-40B4-BE49-F238E27FC236}">
                  <a16:creationId xmlns:a16="http://schemas.microsoft.com/office/drawing/2014/main" id="{B9CE56A5-5AAA-A9F0-A9FA-7E43CBDB4C01}"/>
                </a:ext>
              </a:extLst>
            </p:cNvPr>
            <p:cNvSpPr/>
            <p:nvPr/>
          </p:nvSpPr>
          <p:spPr>
            <a:xfrm>
              <a:off x="1330200" y="2667600"/>
              <a:ext cx="27000" cy="27000"/>
            </a:xfrm>
            <a:custGeom>
              <a:avLst/>
              <a:gdLst/>
              <a:ahLst/>
              <a:cxnLst/>
              <a:rect l="l" t="t" r="r" b="b"/>
              <a:pathLst>
                <a:path w="75" h="75" extrusionOk="0">
                  <a:moveTo>
                    <a:pt x="75" y="38"/>
                  </a:moveTo>
                  <a:cubicBezTo>
                    <a:pt x="75" y="58"/>
                    <a:pt x="58" y="75"/>
                    <a:pt x="37" y="75"/>
                  </a:cubicBezTo>
                  <a:cubicBezTo>
                    <a:pt x="17" y="75"/>
                    <a:pt x="0" y="58"/>
                    <a:pt x="0" y="38"/>
                  </a:cubicBezTo>
                  <a:cubicBezTo>
                    <a:pt x="0" y="17"/>
                    <a:pt x="17" y="0"/>
                    <a:pt x="37" y="0"/>
                  </a:cubicBezTo>
                  <a:cubicBezTo>
                    <a:pt x="58" y="0"/>
                    <a:pt x="75" y="17"/>
                    <a:pt x="75" y="38"/>
                  </a:cubicBezTo>
                  <a:close/>
                </a:path>
              </a:pathLst>
            </a:custGeom>
            <a:solidFill>
              <a:srgbClr val="DDFBFC"/>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 name="Google Shape;1922;p44">
              <a:extLst>
                <a:ext uri="{FF2B5EF4-FFF2-40B4-BE49-F238E27FC236}">
                  <a16:creationId xmlns:a16="http://schemas.microsoft.com/office/drawing/2014/main" id="{7CB7CBC9-117F-E4D4-708C-1E13C686399A}"/>
                </a:ext>
              </a:extLst>
            </p:cNvPr>
            <p:cNvSpPr/>
            <p:nvPr/>
          </p:nvSpPr>
          <p:spPr>
            <a:xfrm>
              <a:off x="1316880" y="2748240"/>
              <a:ext cx="53640" cy="187920"/>
            </a:xfrm>
            <a:custGeom>
              <a:avLst/>
              <a:gdLst/>
              <a:ahLst/>
              <a:cxnLst/>
              <a:rect l="l" t="t" r="r" b="b"/>
              <a:pathLst>
                <a:path w="149" h="522" extrusionOk="0">
                  <a:moveTo>
                    <a:pt x="135" y="0"/>
                  </a:moveTo>
                  <a:lnTo>
                    <a:pt x="13" y="0"/>
                  </a:lnTo>
                  <a:cubicBezTo>
                    <a:pt x="6" y="0"/>
                    <a:pt x="0" y="6"/>
                    <a:pt x="0" y="13"/>
                  </a:cubicBezTo>
                  <a:lnTo>
                    <a:pt x="0" y="508"/>
                  </a:lnTo>
                  <a:cubicBezTo>
                    <a:pt x="0" y="516"/>
                    <a:pt x="6" y="522"/>
                    <a:pt x="13" y="522"/>
                  </a:cubicBezTo>
                  <a:lnTo>
                    <a:pt x="135" y="522"/>
                  </a:lnTo>
                  <a:cubicBezTo>
                    <a:pt x="143" y="522"/>
                    <a:pt x="149" y="516"/>
                    <a:pt x="149" y="508"/>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 name="Google Shape;1923;p44">
              <a:extLst>
                <a:ext uri="{FF2B5EF4-FFF2-40B4-BE49-F238E27FC236}">
                  <a16:creationId xmlns:a16="http://schemas.microsoft.com/office/drawing/2014/main" id="{BB431B61-A073-3FA0-77B4-B475633638AF}"/>
                </a:ext>
              </a:extLst>
            </p:cNvPr>
            <p:cNvSpPr/>
            <p:nvPr/>
          </p:nvSpPr>
          <p:spPr>
            <a:xfrm>
              <a:off x="120960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 name="Google Shape;1924;p44">
              <a:extLst>
                <a:ext uri="{FF2B5EF4-FFF2-40B4-BE49-F238E27FC236}">
                  <a16:creationId xmlns:a16="http://schemas.microsoft.com/office/drawing/2014/main" id="{97B342C0-E85F-24CA-27C6-0F3CEA5CE0B1}"/>
                </a:ext>
              </a:extLst>
            </p:cNvPr>
            <p:cNvSpPr/>
            <p:nvPr/>
          </p:nvSpPr>
          <p:spPr>
            <a:xfrm>
              <a:off x="1102320" y="2855520"/>
              <a:ext cx="53640" cy="80640"/>
            </a:xfrm>
            <a:custGeom>
              <a:avLst/>
              <a:gdLst/>
              <a:ahLst/>
              <a:cxnLst/>
              <a:rect l="l" t="t" r="r" b="b"/>
              <a:pathLst>
                <a:path w="149" h="224" extrusionOk="0">
                  <a:moveTo>
                    <a:pt x="135" y="0"/>
                  </a:moveTo>
                  <a:lnTo>
                    <a:pt x="13" y="0"/>
                  </a:lnTo>
                  <a:cubicBezTo>
                    <a:pt x="6" y="0"/>
                    <a:pt x="0" y="6"/>
                    <a:pt x="0" y="13"/>
                  </a:cubicBezTo>
                  <a:lnTo>
                    <a:pt x="0" y="210"/>
                  </a:lnTo>
                  <a:cubicBezTo>
                    <a:pt x="0" y="218"/>
                    <a:pt x="6" y="224"/>
                    <a:pt x="13" y="224"/>
                  </a:cubicBezTo>
                  <a:lnTo>
                    <a:pt x="135" y="224"/>
                  </a:lnTo>
                  <a:cubicBezTo>
                    <a:pt x="143" y="224"/>
                    <a:pt x="149" y="218"/>
                    <a:pt x="149" y="210"/>
                  </a:cubicBezTo>
                  <a:lnTo>
                    <a:pt x="149" y="13"/>
                  </a:lnTo>
                  <a:cubicBezTo>
                    <a:pt x="149" y="6"/>
                    <a:pt x="143" y="0"/>
                    <a:pt x="135" y="0"/>
                  </a:cubicBezTo>
                  <a:close/>
                </a:path>
              </a:pathLst>
            </a:custGeom>
            <a:solidFill>
              <a:srgbClr val="008F95"/>
            </a:solidFill>
            <a:ln>
              <a:noFill/>
            </a:ln>
          </p:spPr>
          <p:txBody>
            <a:bodyPr spcFirstLastPara="1" wrap="square" lIns="90000" tIns="35625" rIns="90000" bIns="356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1925;p44">
              <a:extLst>
                <a:ext uri="{FF2B5EF4-FFF2-40B4-BE49-F238E27FC236}">
                  <a16:creationId xmlns:a16="http://schemas.microsoft.com/office/drawing/2014/main" id="{C6ED3A54-0081-B401-D80B-A5AA8454C6B7}"/>
                </a:ext>
              </a:extLst>
            </p:cNvPr>
            <p:cNvSpPr/>
            <p:nvPr/>
          </p:nvSpPr>
          <p:spPr>
            <a:xfrm>
              <a:off x="995040" y="2801880"/>
              <a:ext cx="53640" cy="134280"/>
            </a:xfrm>
            <a:custGeom>
              <a:avLst/>
              <a:gdLst/>
              <a:ahLst/>
              <a:cxnLst/>
              <a:rect l="l" t="t" r="r" b="b"/>
              <a:pathLst>
                <a:path w="149" h="373" extrusionOk="0">
                  <a:moveTo>
                    <a:pt x="135" y="0"/>
                  </a:moveTo>
                  <a:lnTo>
                    <a:pt x="13" y="0"/>
                  </a:lnTo>
                  <a:cubicBezTo>
                    <a:pt x="6" y="0"/>
                    <a:pt x="0" y="6"/>
                    <a:pt x="0" y="13"/>
                  </a:cubicBezTo>
                  <a:lnTo>
                    <a:pt x="0" y="359"/>
                  </a:lnTo>
                  <a:cubicBezTo>
                    <a:pt x="0" y="367"/>
                    <a:pt x="6" y="373"/>
                    <a:pt x="13" y="373"/>
                  </a:cubicBezTo>
                  <a:lnTo>
                    <a:pt x="135" y="373"/>
                  </a:lnTo>
                  <a:cubicBezTo>
                    <a:pt x="143" y="373"/>
                    <a:pt x="149" y="367"/>
                    <a:pt x="149" y="359"/>
                  </a:cubicBezTo>
                  <a:lnTo>
                    <a:pt x="149" y="13"/>
                  </a:lnTo>
                  <a:cubicBezTo>
                    <a:pt x="149" y="6"/>
                    <a:pt x="143" y="0"/>
                    <a:pt x="135" y="0"/>
                  </a:cubicBezTo>
                  <a:close/>
                </a:path>
              </a:pathLst>
            </a:custGeom>
            <a:solidFill>
              <a:srgbClr val="008F9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1926;p44">
              <a:extLst>
                <a:ext uri="{FF2B5EF4-FFF2-40B4-BE49-F238E27FC236}">
                  <a16:creationId xmlns:a16="http://schemas.microsoft.com/office/drawing/2014/main" id="{BAE83AC1-0411-0E9E-F2AD-B001A40ACD39}"/>
                </a:ext>
              </a:extLst>
            </p:cNvPr>
            <p:cNvSpPr/>
            <p:nvPr/>
          </p:nvSpPr>
          <p:spPr>
            <a:xfrm>
              <a:off x="975600" y="2956680"/>
              <a:ext cx="414360" cy="38880"/>
            </a:xfrm>
            <a:custGeom>
              <a:avLst/>
              <a:gdLst/>
              <a:ahLst/>
              <a:cxnLst/>
              <a:rect l="l" t="t" r="r" b="b"/>
              <a:pathLst>
                <a:path w="1151" h="108" extrusionOk="0">
                  <a:moveTo>
                    <a:pt x="1117" y="75"/>
                  </a:moveTo>
                  <a:lnTo>
                    <a:pt x="1077" y="75"/>
                  </a:lnTo>
                  <a:lnTo>
                    <a:pt x="1077" y="34"/>
                  </a:lnTo>
                  <a:lnTo>
                    <a:pt x="1117" y="34"/>
                  </a:lnTo>
                  <a:lnTo>
                    <a:pt x="1117" y="75"/>
                  </a:lnTo>
                  <a:moveTo>
                    <a:pt x="74" y="75"/>
                  </a:moveTo>
                  <a:lnTo>
                    <a:pt x="33" y="75"/>
                  </a:lnTo>
                  <a:lnTo>
                    <a:pt x="33" y="34"/>
                  </a:lnTo>
                  <a:lnTo>
                    <a:pt x="74" y="34"/>
                  </a:lnTo>
                  <a:lnTo>
                    <a:pt x="74" y="75"/>
                  </a:lnTo>
                  <a:moveTo>
                    <a:pt x="1134" y="0"/>
                  </a:moveTo>
                  <a:lnTo>
                    <a:pt x="91" y="0"/>
                  </a:lnTo>
                  <a:lnTo>
                    <a:pt x="91" y="0"/>
                  </a:lnTo>
                  <a:lnTo>
                    <a:pt x="91" y="0"/>
                  </a:lnTo>
                  <a:lnTo>
                    <a:pt x="16" y="0"/>
                  </a:lnTo>
                  <a:cubicBezTo>
                    <a:pt x="12" y="0"/>
                    <a:pt x="8" y="2"/>
                    <a:pt x="4" y="5"/>
                  </a:cubicBezTo>
                  <a:cubicBezTo>
                    <a:pt x="1" y="8"/>
                    <a:pt x="0" y="13"/>
                    <a:pt x="0" y="17"/>
                  </a:cubicBezTo>
                  <a:lnTo>
                    <a:pt x="0" y="92"/>
                  </a:lnTo>
                  <a:cubicBezTo>
                    <a:pt x="0" y="101"/>
                    <a:pt x="7" y="108"/>
                    <a:pt x="16" y="108"/>
                  </a:cubicBezTo>
                  <a:lnTo>
                    <a:pt x="243" y="108"/>
                  </a:lnTo>
                  <a:cubicBezTo>
                    <a:pt x="253" y="108"/>
                    <a:pt x="260" y="101"/>
                    <a:pt x="260" y="92"/>
                  </a:cubicBezTo>
                  <a:cubicBezTo>
                    <a:pt x="260" y="82"/>
                    <a:pt x="253" y="75"/>
                    <a:pt x="243" y="75"/>
                  </a:cubicBezTo>
                  <a:lnTo>
                    <a:pt x="108" y="75"/>
                  </a:lnTo>
                  <a:lnTo>
                    <a:pt x="108" y="34"/>
                  </a:lnTo>
                  <a:lnTo>
                    <a:pt x="1043" y="34"/>
                  </a:lnTo>
                  <a:lnTo>
                    <a:pt x="1043" y="75"/>
                  </a:lnTo>
                  <a:lnTo>
                    <a:pt x="311" y="75"/>
                  </a:lnTo>
                  <a:cubicBezTo>
                    <a:pt x="302" y="75"/>
                    <a:pt x="294" y="82"/>
                    <a:pt x="294" y="92"/>
                  </a:cubicBezTo>
                  <a:cubicBezTo>
                    <a:pt x="294" y="101"/>
                    <a:pt x="302" y="108"/>
                    <a:pt x="311" y="108"/>
                  </a:cubicBezTo>
                  <a:lnTo>
                    <a:pt x="1134" y="108"/>
                  </a:lnTo>
                  <a:cubicBezTo>
                    <a:pt x="1144" y="108"/>
                    <a:pt x="1151" y="101"/>
                    <a:pt x="1151" y="92"/>
                  </a:cubicBezTo>
                  <a:lnTo>
                    <a:pt x="1151" y="17"/>
                  </a:lnTo>
                  <a:cubicBezTo>
                    <a:pt x="1151" y="8"/>
                    <a:pt x="1144" y="0"/>
                    <a:pt x="1134" y="0"/>
                  </a:cubicBezTo>
                  <a:close/>
                </a:path>
              </a:pathLst>
            </a:custGeom>
            <a:solidFill>
              <a:srgbClr val="3C2C3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 name="Google Shape;1927;p44">
              <a:extLst>
                <a:ext uri="{FF2B5EF4-FFF2-40B4-BE49-F238E27FC236}">
                  <a16:creationId xmlns:a16="http://schemas.microsoft.com/office/drawing/2014/main" id="{B398C15F-D7F9-593F-173D-3B39143FE814}"/>
                </a:ext>
              </a:extLst>
            </p:cNvPr>
            <p:cNvSpPr/>
            <p:nvPr/>
          </p:nvSpPr>
          <p:spPr>
            <a:xfrm>
              <a:off x="1096200" y="2849400"/>
              <a:ext cx="65880" cy="92520"/>
            </a:xfrm>
            <a:custGeom>
              <a:avLst/>
              <a:gdLst/>
              <a:ahLst/>
              <a:cxnLst/>
              <a:rect l="l" t="t" r="r" b="b"/>
              <a:pathLst>
                <a:path w="183" h="257" extrusionOk="0">
                  <a:moveTo>
                    <a:pt x="149" y="224"/>
                  </a:moveTo>
                  <a:lnTo>
                    <a:pt x="34" y="224"/>
                  </a:lnTo>
                  <a:lnTo>
                    <a:pt x="34" y="34"/>
                  </a:lnTo>
                  <a:lnTo>
                    <a:pt x="149" y="34"/>
                  </a:lnTo>
                  <a:lnTo>
                    <a:pt x="149" y="224"/>
                  </a:lnTo>
                  <a:moveTo>
                    <a:pt x="17" y="0"/>
                  </a:moveTo>
                  <a:cubicBezTo>
                    <a:pt x="7" y="0"/>
                    <a:pt x="0" y="8"/>
                    <a:pt x="0" y="17"/>
                  </a:cubicBezTo>
                  <a:lnTo>
                    <a:pt x="0" y="241"/>
                  </a:lnTo>
                  <a:cubicBezTo>
                    <a:pt x="0" y="250"/>
                    <a:pt x="7" y="257"/>
                    <a:pt x="17" y="257"/>
                  </a:cubicBezTo>
                  <a:lnTo>
                    <a:pt x="166" y="257"/>
                  </a:lnTo>
                  <a:cubicBezTo>
                    <a:pt x="175" y="257"/>
                    <a:pt x="183" y="250"/>
                    <a:pt x="183" y="241"/>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4" name="Google Shape;1928;p44">
              <a:extLst>
                <a:ext uri="{FF2B5EF4-FFF2-40B4-BE49-F238E27FC236}">
                  <a16:creationId xmlns:a16="http://schemas.microsoft.com/office/drawing/2014/main" id="{E02CC557-DD56-E8F7-9617-AFCFCF84ABA9}"/>
                </a:ext>
              </a:extLst>
            </p:cNvPr>
            <p:cNvSpPr/>
            <p:nvPr/>
          </p:nvSpPr>
          <p:spPr>
            <a:xfrm>
              <a:off x="1203480" y="2795760"/>
              <a:ext cx="65880" cy="146160"/>
            </a:xfrm>
            <a:custGeom>
              <a:avLst/>
              <a:gdLst/>
              <a:ahLst/>
              <a:cxnLst/>
              <a:rect l="l" t="t" r="r" b="b"/>
              <a:pathLst>
                <a:path w="183" h="406" extrusionOk="0">
                  <a:moveTo>
                    <a:pt x="149" y="373"/>
                  </a:moveTo>
                  <a:lnTo>
                    <a:pt x="34" y="373"/>
                  </a:lnTo>
                  <a:lnTo>
                    <a:pt x="34" y="34"/>
                  </a:lnTo>
                  <a:lnTo>
                    <a:pt x="149" y="34"/>
                  </a:lnTo>
                  <a:lnTo>
                    <a:pt x="149" y="373"/>
                  </a:lnTo>
                  <a:moveTo>
                    <a:pt x="17" y="0"/>
                  </a:moveTo>
                  <a:cubicBezTo>
                    <a:pt x="7" y="0"/>
                    <a:pt x="0" y="8"/>
                    <a:pt x="0" y="17"/>
                  </a:cubicBezTo>
                  <a:lnTo>
                    <a:pt x="0" y="390"/>
                  </a:lnTo>
                  <a:cubicBezTo>
                    <a:pt x="0" y="399"/>
                    <a:pt x="7" y="406"/>
                    <a:pt x="17" y="406"/>
                  </a:cubicBezTo>
                  <a:lnTo>
                    <a:pt x="166" y="406"/>
                  </a:lnTo>
                  <a:cubicBezTo>
                    <a:pt x="175" y="406"/>
                    <a:pt x="183" y="399"/>
                    <a:pt x="183" y="390"/>
                  </a:cubicBezTo>
                  <a:lnTo>
                    <a:pt x="183" y="17"/>
                  </a:lnTo>
                  <a:cubicBezTo>
                    <a:pt x="183" y="8"/>
                    <a:pt x="175" y="0"/>
                    <a:pt x="166" y="0"/>
                  </a:cubicBezTo>
                  <a:lnTo>
                    <a:pt x="17" y="0"/>
                  </a:ln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5" name="Google Shape;1929;p44">
              <a:extLst>
                <a:ext uri="{FF2B5EF4-FFF2-40B4-BE49-F238E27FC236}">
                  <a16:creationId xmlns:a16="http://schemas.microsoft.com/office/drawing/2014/main" id="{BB6A0C0F-351F-53AA-32F7-72D803CB84F5}"/>
                </a:ext>
              </a:extLst>
            </p:cNvPr>
            <p:cNvSpPr/>
            <p:nvPr/>
          </p:nvSpPr>
          <p:spPr>
            <a:xfrm>
              <a:off x="988920" y="2795760"/>
              <a:ext cx="65880" cy="146160"/>
            </a:xfrm>
            <a:custGeom>
              <a:avLst/>
              <a:gdLst/>
              <a:ahLst/>
              <a:cxnLst/>
              <a:rect l="l" t="t" r="r" b="b"/>
              <a:pathLst>
                <a:path w="183" h="406" extrusionOk="0">
                  <a:moveTo>
                    <a:pt x="34" y="34"/>
                  </a:moveTo>
                  <a:lnTo>
                    <a:pt x="149" y="34"/>
                  </a:lnTo>
                  <a:lnTo>
                    <a:pt x="149" y="373"/>
                  </a:lnTo>
                  <a:lnTo>
                    <a:pt x="34" y="373"/>
                  </a:lnTo>
                  <a:lnTo>
                    <a:pt x="34" y="34"/>
                  </a:lnTo>
                  <a:moveTo>
                    <a:pt x="17" y="406"/>
                  </a:moveTo>
                  <a:lnTo>
                    <a:pt x="166" y="406"/>
                  </a:lnTo>
                  <a:cubicBezTo>
                    <a:pt x="175" y="406"/>
                    <a:pt x="183" y="399"/>
                    <a:pt x="183" y="390"/>
                  </a:cubicBezTo>
                  <a:lnTo>
                    <a:pt x="183" y="17"/>
                  </a:lnTo>
                  <a:cubicBezTo>
                    <a:pt x="183" y="8"/>
                    <a:pt x="175" y="0"/>
                    <a:pt x="166" y="0"/>
                  </a:cubicBezTo>
                  <a:lnTo>
                    <a:pt x="17" y="0"/>
                  </a:lnTo>
                  <a:cubicBezTo>
                    <a:pt x="7" y="0"/>
                    <a:pt x="0" y="8"/>
                    <a:pt x="0" y="17"/>
                  </a:cubicBezTo>
                  <a:lnTo>
                    <a:pt x="0" y="390"/>
                  </a:lnTo>
                  <a:cubicBezTo>
                    <a:pt x="0" y="399"/>
                    <a:pt x="7" y="406"/>
                    <a:pt x="17" y="406"/>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6" name="Google Shape;1930;p44">
              <a:extLst>
                <a:ext uri="{FF2B5EF4-FFF2-40B4-BE49-F238E27FC236}">
                  <a16:creationId xmlns:a16="http://schemas.microsoft.com/office/drawing/2014/main" id="{B4F30610-68F3-C1FF-D90A-3840B58FF203}"/>
                </a:ext>
              </a:extLst>
            </p:cNvPr>
            <p:cNvSpPr/>
            <p:nvPr/>
          </p:nvSpPr>
          <p:spPr>
            <a:xfrm>
              <a:off x="1310760" y="2742120"/>
              <a:ext cx="65880" cy="199800"/>
            </a:xfrm>
            <a:custGeom>
              <a:avLst/>
              <a:gdLst/>
              <a:ahLst/>
              <a:cxnLst/>
              <a:rect l="l" t="t" r="r" b="b"/>
              <a:pathLst>
                <a:path w="183" h="555" extrusionOk="0">
                  <a:moveTo>
                    <a:pt x="34" y="34"/>
                  </a:moveTo>
                  <a:lnTo>
                    <a:pt x="149" y="34"/>
                  </a:lnTo>
                  <a:lnTo>
                    <a:pt x="149" y="522"/>
                  </a:lnTo>
                  <a:lnTo>
                    <a:pt x="34" y="522"/>
                  </a:lnTo>
                  <a:lnTo>
                    <a:pt x="34" y="34"/>
                  </a:lnTo>
                  <a:moveTo>
                    <a:pt x="0" y="17"/>
                  </a:moveTo>
                  <a:lnTo>
                    <a:pt x="0" y="539"/>
                  </a:lnTo>
                  <a:cubicBezTo>
                    <a:pt x="0" y="548"/>
                    <a:pt x="8" y="555"/>
                    <a:pt x="17" y="555"/>
                  </a:cubicBezTo>
                  <a:lnTo>
                    <a:pt x="166" y="555"/>
                  </a:lnTo>
                  <a:cubicBezTo>
                    <a:pt x="175" y="555"/>
                    <a:pt x="183" y="548"/>
                    <a:pt x="183" y="539"/>
                  </a:cubicBezTo>
                  <a:lnTo>
                    <a:pt x="183" y="17"/>
                  </a:lnTo>
                  <a:cubicBezTo>
                    <a:pt x="183" y="8"/>
                    <a:pt x="175" y="0"/>
                    <a:pt x="166" y="0"/>
                  </a:cubicBezTo>
                  <a:lnTo>
                    <a:pt x="17" y="0"/>
                  </a:lnTo>
                  <a:cubicBezTo>
                    <a:pt x="8" y="0"/>
                    <a:pt x="0" y="8"/>
                    <a:pt x="0" y="17"/>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7" name="Google Shape;1931;p44">
              <a:extLst>
                <a:ext uri="{FF2B5EF4-FFF2-40B4-BE49-F238E27FC236}">
                  <a16:creationId xmlns:a16="http://schemas.microsoft.com/office/drawing/2014/main" id="{B5F2BA0E-6318-2B6F-0BB5-52F83D3395B3}"/>
                </a:ext>
              </a:extLst>
            </p:cNvPr>
            <p:cNvSpPr/>
            <p:nvPr/>
          </p:nvSpPr>
          <p:spPr>
            <a:xfrm>
              <a:off x="1002240" y="2661480"/>
              <a:ext cx="361080" cy="146520"/>
            </a:xfrm>
            <a:custGeom>
              <a:avLst/>
              <a:gdLst/>
              <a:ahLst/>
              <a:cxnLst/>
              <a:rect l="l" t="t" r="r" b="b"/>
              <a:pathLst>
                <a:path w="1003" h="407" extrusionOk="0">
                  <a:moveTo>
                    <a:pt x="54" y="183"/>
                  </a:moveTo>
                  <a:cubicBezTo>
                    <a:pt x="65" y="183"/>
                    <a:pt x="75" y="192"/>
                    <a:pt x="75" y="204"/>
                  </a:cubicBezTo>
                  <a:cubicBezTo>
                    <a:pt x="75" y="215"/>
                    <a:pt x="65" y="224"/>
                    <a:pt x="54" y="224"/>
                  </a:cubicBezTo>
                  <a:cubicBezTo>
                    <a:pt x="43" y="224"/>
                    <a:pt x="34" y="215"/>
                    <a:pt x="34" y="204"/>
                  </a:cubicBezTo>
                  <a:cubicBezTo>
                    <a:pt x="34" y="192"/>
                    <a:pt x="43" y="183"/>
                    <a:pt x="54" y="183"/>
                  </a:cubicBezTo>
                  <a:moveTo>
                    <a:pt x="352" y="332"/>
                  </a:moveTo>
                  <a:cubicBezTo>
                    <a:pt x="363" y="332"/>
                    <a:pt x="373" y="341"/>
                    <a:pt x="373" y="353"/>
                  </a:cubicBezTo>
                  <a:cubicBezTo>
                    <a:pt x="373" y="364"/>
                    <a:pt x="363" y="373"/>
                    <a:pt x="352" y="373"/>
                  </a:cubicBezTo>
                  <a:cubicBezTo>
                    <a:pt x="341" y="373"/>
                    <a:pt x="332" y="364"/>
                    <a:pt x="332" y="353"/>
                  </a:cubicBezTo>
                  <a:cubicBezTo>
                    <a:pt x="332" y="341"/>
                    <a:pt x="341" y="332"/>
                    <a:pt x="352" y="332"/>
                  </a:cubicBezTo>
                  <a:moveTo>
                    <a:pt x="650" y="183"/>
                  </a:moveTo>
                  <a:cubicBezTo>
                    <a:pt x="662" y="183"/>
                    <a:pt x="671" y="192"/>
                    <a:pt x="671" y="204"/>
                  </a:cubicBezTo>
                  <a:cubicBezTo>
                    <a:pt x="671" y="215"/>
                    <a:pt x="662" y="224"/>
                    <a:pt x="650" y="224"/>
                  </a:cubicBezTo>
                  <a:cubicBezTo>
                    <a:pt x="639" y="224"/>
                    <a:pt x="630" y="215"/>
                    <a:pt x="630" y="204"/>
                  </a:cubicBezTo>
                  <a:cubicBezTo>
                    <a:pt x="630" y="192"/>
                    <a:pt x="639" y="183"/>
                    <a:pt x="650" y="183"/>
                  </a:cubicBezTo>
                  <a:moveTo>
                    <a:pt x="948" y="34"/>
                  </a:moveTo>
                  <a:cubicBezTo>
                    <a:pt x="960" y="34"/>
                    <a:pt x="969" y="43"/>
                    <a:pt x="969" y="55"/>
                  </a:cubicBezTo>
                  <a:cubicBezTo>
                    <a:pt x="969" y="66"/>
                    <a:pt x="960" y="75"/>
                    <a:pt x="948" y="75"/>
                  </a:cubicBezTo>
                  <a:cubicBezTo>
                    <a:pt x="937" y="75"/>
                    <a:pt x="928" y="66"/>
                    <a:pt x="928" y="55"/>
                  </a:cubicBezTo>
                  <a:cubicBezTo>
                    <a:pt x="928" y="43"/>
                    <a:pt x="937" y="34"/>
                    <a:pt x="948" y="34"/>
                  </a:cubicBezTo>
                  <a:moveTo>
                    <a:pt x="54" y="258"/>
                  </a:moveTo>
                  <a:cubicBezTo>
                    <a:pt x="69" y="258"/>
                    <a:pt x="83" y="252"/>
                    <a:pt x="93" y="242"/>
                  </a:cubicBezTo>
                  <a:lnTo>
                    <a:pt x="299" y="345"/>
                  </a:lnTo>
                  <a:cubicBezTo>
                    <a:pt x="298" y="347"/>
                    <a:pt x="298" y="350"/>
                    <a:pt x="298" y="353"/>
                  </a:cubicBezTo>
                  <a:cubicBezTo>
                    <a:pt x="298" y="383"/>
                    <a:pt x="322" y="407"/>
                    <a:pt x="352" y="407"/>
                  </a:cubicBezTo>
                  <a:cubicBezTo>
                    <a:pt x="382" y="407"/>
                    <a:pt x="406" y="383"/>
                    <a:pt x="406" y="353"/>
                  </a:cubicBezTo>
                  <a:cubicBezTo>
                    <a:pt x="406" y="347"/>
                    <a:pt x="406" y="342"/>
                    <a:pt x="404" y="337"/>
                  </a:cubicBezTo>
                  <a:lnTo>
                    <a:pt x="618" y="247"/>
                  </a:lnTo>
                  <a:cubicBezTo>
                    <a:pt x="627" y="254"/>
                    <a:pt x="638" y="258"/>
                    <a:pt x="650" y="258"/>
                  </a:cubicBezTo>
                  <a:cubicBezTo>
                    <a:pt x="680" y="258"/>
                    <a:pt x="704" y="233"/>
                    <a:pt x="704" y="204"/>
                  </a:cubicBezTo>
                  <a:cubicBezTo>
                    <a:pt x="704" y="203"/>
                    <a:pt x="704" y="202"/>
                    <a:pt x="704" y="201"/>
                  </a:cubicBezTo>
                  <a:lnTo>
                    <a:pt x="907" y="89"/>
                  </a:lnTo>
                  <a:cubicBezTo>
                    <a:pt x="917" y="101"/>
                    <a:pt x="932" y="109"/>
                    <a:pt x="948" y="109"/>
                  </a:cubicBezTo>
                  <a:cubicBezTo>
                    <a:pt x="978" y="109"/>
                    <a:pt x="1003" y="84"/>
                    <a:pt x="1003" y="55"/>
                  </a:cubicBezTo>
                  <a:cubicBezTo>
                    <a:pt x="1003" y="25"/>
                    <a:pt x="978" y="0"/>
                    <a:pt x="948" y="0"/>
                  </a:cubicBezTo>
                  <a:cubicBezTo>
                    <a:pt x="919" y="0"/>
                    <a:pt x="894" y="25"/>
                    <a:pt x="894" y="55"/>
                  </a:cubicBezTo>
                  <a:cubicBezTo>
                    <a:pt x="894" y="56"/>
                    <a:pt x="894" y="56"/>
                    <a:pt x="894" y="57"/>
                  </a:cubicBezTo>
                  <a:lnTo>
                    <a:pt x="692" y="169"/>
                  </a:lnTo>
                  <a:cubicBezTo>
                    <a:pt x="682" y="157"/>
                    <a:pt x="667" y="150"/>
                    <a:pt x="650" y="150"/>
                  </a:cubicBezTo>
                  <a:cubicBezTo>
                    <a:pt x="620" y="150"/>
                    <a:pt x="596" y="174"/>
                    <a:pt x="596" y="204"/>
                  </a:cubicBezTo>
                  <a:cubicBezTo>
                    <a:pt x="596" y="209"/>
                    <a:pt x="597" y="214"/>
                    <a:pt x="598" y="219"/>
                  </a:cubicBezTo>
                  <a:lnTo>
                    <a:pt x="384" y="309"/>
                  </a:lnTo>
                  <a:cubicBezTo>
                    <a:pt x="375" y="302"/>
                    <a:pt x="364" y="299"/>
                    <a:pt x="352" y="299"/>
                  </a:cubicBezTo>
                  <a:cubicBezTo>
                    <a:pt x="337" y="299"/>
                    <a:pt x="324" y="305"/>
                    <a:pt x="314" y="315"/>
                  </a:cubicBezTo>
                  <a:lnTo>
                    <a:pt x="108" y="212"/>
                  </a:lnTo>
                  <a:cubicBezTo>
                    <a:pt x="108" y="209"/>
                    <a:pt x="108" y="206"/>
                    <a:pt x="108" y="204"/>
                  </a:cubicBezTo>
                  <a:cubicBezTo>
                    <a:pt x="108" y="174"/>
                    <a:pt x="84" y="150"/>
                    <a:pt x="54" y="150"/>
                  </a:cubicBezTo>
                  <a:cubicBezTo>
                    <a:pt x="24" y="150"/>
                    <a:pt x="0" y="174"/>
                    <a:pt x="0" y="204"/>
                  </a:cubicBezTo>
                  <a:cubicBezTo>
                    <a:pt x="0" y="233"/>
                    <a:pt x="24" y="258"/>
                    <a:pt x="54" y="258"/>
                  </a:cubicBezTo>
                  <a:close/>
                </a:path>
              </a:pathLst>
            </a:custGeom>
            <a:solidFill>
              <a:srgbClr val="3C2C3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spTree>
    <p:extLst>
      <p:ext uri="{BB962C8B-B14F-4D97-AF65-F5344CB8AC3E}">
        <p14:creationId xmlns:p14="http://schemas.microsoft.com/office/powerpoint/2010/main" val="983280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2F54D250-D792-432E-7610-10711E682DC5}"/>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1F9F99EB-51F4-2BE2-C561-69C3105BD809}"/>
              </a:ext>
            </a:extLst>
          </p:cNvPr>
          <p:cNvSpPr txBox="1">
            <a:spLocks noGrp="1"/>
          </p:cNvSpPr>
          <p:nvPr>
            <p:ph type="title"/>
          </p:nvPr>
        </p:nvSpPr>
        <p:spPr>
          <a:xfrm>
            <a:off x="742535" y="990838"/>
            <a:ext cx="735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Conclusion</a:t>
            </a:r>
            <a:endParaRPr dirty="0"/>
          </a:p>
        </p:txBody>
      </p:sp>
      <p:sp>
        <p:nvSpPr>
          <p:cNvPr id="6" name="Rectangle 2">
            <a:extLst>
              <a:ext uri="{FF2B5EF4-FFF2-40B4-BE49-F238E27FC236}">
                <a16:creationId xmlns:a16="http://schemas.microsoft.com/office/drawing/2014/main" id="{EAD5EFD2-0C40-27B2-C5A3-154EFBB5EC3F}"/>
              </a:ext>
            </a:extLst>
          </p:cNvPr>
          <p:cNvSpPr>
            <a:spLocks noChangeArrowheads="1"/>
          </p:cNvSpPr>
          <p:nvPr/>
        </p:nvSpPr>
        <p:spPr bwMode="auto">
          <a:xfrm>
            <a:off x="639988" y="1703301"/>
            <a:ext cx="784060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In conclusion, this project successfully demonstrates the power of a 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warehouse in analyzing the price of used cars, taking into account a wide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range of influencing factors. By leveraging Talend and Python for the ETL</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 process, data was efficiently extracted, transformed, and loaded into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warehouse, ensuring data quality and consistency.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The integration of Pentaho for generating the cube has provided valuable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insights into the price trends and patterns of used cars, enabling better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decision-making for businesses and consumers.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Overall, the project highlights the potential of using advanced ETL tools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and BI technologies to uncover meaningful insights from complex datasets.</a:t>
            </a:r>
          </a:p>
        </p:txBody>
      </p:sp>
    </p:spTree>
    <p:extLst>
      <p:ext uri="{BB962C8B-B14F-4D97-AF65-F5344CB8AC3E}">
        <p14:creationId xmlns:p14="http://schemas.microsoft.com/office/powerpoint/2010/main" val="3720270237"/>
      </p:ext>
    </p:extLst>
  </p:cSld>
  <p:clrMapOvr>
    <a:masterClrMapping/>
  </p:clrMapOvr>
</p:sld>
</file>

<file path=ppt/theme/theme1.xml><?xml version="1.0" encoding="utf-8"?>
<a:theme xmlns:a="http://schemas.openxmlformats.org/drawingml/2006/main"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626</TotalTime>
  <Words>786</Words>
  <Application>Microsoft Office PowerPoint</Application>
  <PresentationFormat>Affichage à l'écran (16:9)</PresentationFormat>
  <Paragraphs>128</Paragraphs>
  <Slides>30</Slides>
  <Notes>30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30</vt:i4>
      </vt:variant>
    </vt:vector>
  </HeadingPairs>
  <TitlesOfParts>
    <vt:vector size="36" baseType="lpstr">
      <vt:lpstr>Arial</vt:lpstr>
      <vt:lpstr>Darker Grotesque SemiBold</vt:lpstr>
      <vt:lpstr>Days One</vt:lpstr>
      <vt:lpstr>Bebas Neue</vt:lpstr>
      <vt:lpstr>Lato</vt:lpstr>
      <vt:lpstr>Data Analysis and Statistics - 5th grade by Slidesgo</vt:lpstr>
      <vt:lpstr>Data Warehouse</vt:lpstr>
      <vt:lpstr>Introduction</vt:lpstr>
      <vt:lpstr>Conception</vt:lpstr>
      <vt:lpstr>Plan</vt:lpstr>
      <vt:lpstr> ETL</vt:lpstr>
      <vt:lpstr>The dataset</vt:lpstr>
      <vt:lpstr>Extraction in Talend</vt:lpstr>
      <vt:lpstr>Extraction in python</vt:lpstr>
      <vt:lpstr>Transforme in Talend</vt:lpstr>
      <vt:lpstr>Transforme in Talend</vt:lpstr>
      <vt:lpstr>Transforme in Talend</vt:lpstr>
      <vt:lpstr>Transforme in Talend</vt:lpstr>
      <vt:lpstr>Transforme in Talend</vt:lpstr>
      <vt:lpstr>Transforme in Talend</vt:lpstr>
      <vt:lpstr>Transforme in Talend</vt:lpstr>
      <vt:lpstr>Transforme in Talend</vt:lpstr>
      <vt:lpstr>Transforme in Python</vt:lpstr>
      <vt:lpstr>Transforme in Python</vt:lpstr>
      <vt:lpstr>Transforme in Python</vt:lpstr>
      <vt:lpstr>Transforme in Python</vt:lpstr>
      <vt:lpstr>Load in python</vt:lpstr>
      <vt:lpstr>Load in Talend</vt:lpstr>
      <vt:lpstr>The final model</vt:lpstr>
      <vt:lpstr>Cube Olap</vt:lpstr>
      <vt:lpstr>Schema</vt:lpstr>
      <vt:lpstr>Schema</vt:lpstr>
      <vt:lpstr>Analysis</vt:lpstr>
      <vt:lpstr>Use cases</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Aymen Ben Youssef</dc:creator>
  <cp:lastModifiedBy>benyoussefaymen</cp:lastModifiedBy>
  <cp:revision>18</cp:revision>
  <dcterms:modified xsi:type="dcterms:W3CDTF">2024-12-09T16:55:19Z</dcterms:modified>
</cp:coreProperties>
</file>